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8"/>
  </p:notesMasterIdLst>
  <p:sldIdLst>
    <p:sldId id="256" r:id="rId5"/>
    <p:sldId id="26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0" r:id="rId16"/>
    <p:sldId id="272" r:id="rId17"/>
    <p:sldId id="273" r:id="rId18"/>
    <p:sldId id="275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1" r:id="rId31"/>
    <p:sldId id="294" r:id="rId32"/>
    <p:sldId id="295" r:id="rId33"/>
    <p:sldId id="297" r:id="rId34"/>
    <p:sldId id="298" r:id="rId35"/>
    <p:sldId id="299" r:id="rId36"/>
    <p:sldId id="300" r:id="rId37"/>
  </p:sldIdLst>
  <p:sldSz cx="18288000" cy="10287000"/>
  <p:notesSz cx="6858000" cy="9144000"/>
  <p:embeddedFontLst>
    <p:embeddedFont>
      <p:font typeface="TT Firs Neue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22" autoAdjust="0"/>
  </p:normalViewPr>
  <p:slideViewPr>
    <p:cSldViewPr>
      <p:cViewPr varScale="1">
        <p:scale>
          <a:sx n="72" d="100"/>
          <a:sy n="72" d="100"/>
        </p:scale>
        <p:origin x="1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CB279-B7DE-4B6C-BD6F-B85D37402B7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F67AC-BCF7-4094-9AFE-9DD6EF98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jpeg"/><Relationship Id="rId3" Type="http://schemas.openxmlformats.org/officeDocument/2006/relationships/image" Target="../media/image22.svg"/><Relationship Id="rId7" Type="http://schemas.openxmlformats.org/officeDocument/2006/relationships/image" Target="../media/image24.svg"/><Relationship Id="rId12" Type="http://schemas.openxmlformats.org/officeDocument/2006/relationships/image" Target="../media/image2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4.svg"/><Relationship Id="rId15" Type="http://schemas.openxmlformats.org/officeDocument/2006/relationships/image" Target="../media/image32.svg"/><Relationship Id="rId10" Type="http://schemas.openxmlformats.org/officeDocument/2006/relationships/image" Target="../media/image27.jpeg"/><Relationship Id="rId4" Type="http://schemas.openxmlformats.org/officeDocument/2006/relationships/image" Target="../media/image3.png"/><Relationship Id="rId9" Type="http://schemas.openxmlformats.org/officeDocument/2006/relationships/image" Target="../media/image26.jpe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ijmedinf.2019.08.006" TargetMode="External"/><Relationship Id="rId3" Type="http://schemas.openxmlformats.org/officeDocument/2006/relationships/image" Target="../media/image55.svg"/><Relationship Id="rId7" Type="http://schemas.openxmlformats.org/officeDocument/2006/relationships/hyperlink" Target="https://doi.org/10.2196/76084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3390/s25082496" TargetMode="External"/><Relationship Id="rId5" Type="http://schemas.openxmlformats.org/officeDocument/2006/relationships/hyperlink" Target="https://doi.org/10.3390/s22020573" TargetMode="External"/><Relationship Id="rId4" Type="http://schemas.openxmlformats.org/officeDocument/2006/relationships/hyperlink" Target="https://doi.org/10.3390/s22186752" TargetMode="External"/><Relationship Id="rId9" Type="http://schemas.openxmlformats.org/officeDocument/2006/relationships/hyperlink" Target="https://doi.org/10.3390/s200515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2796">
            <a:off x="9231957" y="-495525"/>
            <a:ext cx="9177267" cy="9177267"/>
          </a:xfrm>
          <a:custGeom>
            <a:avLst/>
            <a:gdLst/>
            <a:ahLst/>
            <a:cxnLst/>
            <a:rect l="l" t="t" r="r" b="b"/>
            <a:pathLst>
              <a:path w="9177267" h="9177267">
                <a:moveTo>
                  <a:pt x="0" y="0"/>
                </a:moveTo>
                <a:lnTo>
                  <a:pt x="9177266" y="0"/>
                </a:lnTo>
                <a:lnTo>
                  <a:pt x="9177266" y="9177267"/>
                </a:lnTo>
                <a:lnTo>
                  <a:pt x="0" y="917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094873">
            <a:off x="-3192403" y="4278123"/>
            <a:ext cx="7824656" cy="7364957"/>
          </a:xfrm>
          <a:custGeom>
            <a:avLst/>
            <a:gdLst/>
            <a:ahLst/>
            <a:cxnLst/>
            <a:rect l="l" t="t" r="r" b="b"/>
            <a:pathLst>
              <a:path w="7824656" h="7364957">
                <a:moveTo>
                  <a:pt x="0" y="0"/>
                </a:moveTo>
                <a:lnTo>
                  <a:pt x="7824655" y="0"/>
                </a:lnTo>
                <a:lnTo>
                  <a:pt x="7824655" y="7364957"/>
                </a:lnTo>
                <a:lnTo>
                  <a:pt x="0" y="736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6981802" y="7768835"/>
            <a:ext cx="3531950" cy="3368597"/>
          </a:xfrm>
          <a:custGeom>
            <a:avLst/>
            <a:gdLst/>
            <a:ahLst/>
            <a:cxnLst/>
            <a:rect l="l" t="t" r="r" b="b"/>
            <a:pathLst>
              <a:path w="3531950" h="3368597">
                <a:moveTo>
                  <a:pt x="0" y="0"/>
                </a:moveTo>
                <a:lnTo>
                  <a:pt x="3531950" y="0"/>
                </a:lnTo>
                <a:lnTo>
                  <a:pt x="3531950" y="3368597"/>
                </a:lnTo>
                <a:lnTo>
                  <a:pt x="0" y="3368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912045" y="7400188"/>
            <a:ext cx="1126932" cy="1120828"/>
          </a:xfrm>
          <a:custGeom>
            <a:avLst/>
            <a:gdLst/>
            <a:ahLst/>
            <a:cxnLst/>
            <a:rect l="l" t="t" r="r" b="b"/>
            <a:pathLst>
              <a:path w="1126932" h="1120828">
                <a:moveTo>
                  <a:pt x="0" y="0"/>
                </a:moveTo>
                <a:lnTo>
                  <a:pt x="1126933" y="0"/>
                </a:lnTo>
                <a:lnTo>
                  <a:pt x="1126933" y="1120828"/>
                </a:lnTo>
                <a:lnTo>
                  <a:pt x="0" y="1120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3372265" y="1713849"/>
            <a:ext cx="3304630" cy="4488461"/>
          </a:xfrm>
          <a:custGeom>
            <a:avLst/>
            <a:gdLst/>
            <a:ahLst/>
            <a:cxnLst/>
            <a:rect l="l" t="t" r="r" b="b"/>
            <a:pathLst>
              <a:path w="3304630" h="4488461">
                <a:moveTo>
                  <a:pt x="3304629" y="0"/>
                </a:moveTo>
                <a:lnTo>
                  <a:pt x="0" y="0"/>
                </a:lnTo>
                <a:lnTo>
                  <a:pt x="0" y="4488461"/>
                </a:lnTo>
                <a:lnTo>
                  <a:pt x="3304629" y="4488461"/>
                </a:lnTo>
                <a:lnTo>
                  <a:pt x="330462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50786" y="1576068"/>
            <a:ext cx="664488" cy="633756"/>
          </a:xfrm>
          <a:custGeom>
            <a:avLst/>
            <a:gdLst/>
            <a:ahLst/>
            <a:cxnLst/>
            <a:rect l="l" t="t" r="r" b="b"/>
            <a:pathLst>
              <a:path w="664488" h="633756">
                <a:moveTo>
                  <a:pt x="0" y="0"/>
                </a:moveTo>
                <a:lnTo>
                  <a:pt x="664489" y="0"/>
                </a:lnTo>
                <a:lnTo>
                  <a:pt x="664489" y="633756"/>
                </a:lnTo>
                <a:lnTo>
                  <a:pt x="0" y="633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518134" y="6474286"/>
            <a:ext cx="5630993" cy="3322286"/>
          </a:xfrm>
          <a:custGeom>
            <a:avLst/>
            <a:gdLst/>
            <a:ahLst/>
            <a:cxnLst/>
            <a:rect l="l" t="t" r="r" b="b"/>
            <a:pathLst>
              <a:path w="5630993" h="3322286">
                <a:moveTo>
                  <a:pt x="0" y="0"/>
                </a:moveTo>
                <a:lnTo>
                  <a:pt x="5630993" y="0"/>
                </a:lnTo>
                <a:lnTo>
                  <a:pt x="5630993" y="3322286"/>
                </a:lnTo>
                <a:lnTo>
                  <a:pt x="0" y="3322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955001" y="2330256"/>
            <a:ext cx="624458" cy="621075"/>
          </a:xfrm>
          <a:custGeom>
            <a:avLst/>
            <a:gdLst/>
            <a:ahLst/>
            <a:cxnLst/>
            <a:rect l="l" t="t" r="r" b="b"/>
            <a:pathLst>
              <a:path w="624458" h="621075">
                <a:moveTo>
                  <a:pt x="0" y="0"/>
                </a:moveTo>
                <a:lnTo>
                  <a:pt x="624458" y="0"/>
                </a:lnTo>
                <a:lnTo>
                  <a:pt x="624458" y="621075"/>
                </a:lnTo>
                <a:lnTo>
                  <a:pt x="0" y="621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085265" y="3467100"/>
            <a:ext cx="10287000" cy="3036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83"/>
              </a:lnSpc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Multi-Sensor Wearable for Real-time Elderly Health Anomaly and Fall Detection </a:t>
            </a:r>
            <a:endParaRPr lang="en-US" sz="5500" b="1" spc="-44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4254471" y="6915726"/>
            <a:ext cx="463506" cy="484462"/>
          </a:xfrm>
          <a:custGeom>
            <a:avLst/>
            <a:gdLst/>
            <a:ahLst/>
            <a:cxnLst/>
            <a:rect l="l" t="t" r="r" b="b"/>
            <a:pathLst>
              <a:path w="463506" h="484462">
                <a:moveTo>
                  <a:pt x="0" y="0"/>
                </a:moveTo>
                <a:lnTo>
                  <a:pt x="463506" y="0"/>
                </a:lnTo>
                <a:lnTo>
                  <a:pt x="463506" y="484462"/>
                </a:lnTo>
                <a:lnTo>
                  <a:pt x="0" y="4844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r="-78821" b="-7108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CFBC-63A8-6510-D7E7-02411AA3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09682D-00B4-8D37-1CA3-E65396655E5E}"/>
              </a:ext>
            </a:extLst>
          </p:cNvPr>
          <p:cNvSpPr/>
          <p:nvPr/>
        </p:nvSpPr>
        <p:spPr>
          <a:xfrm rot="392796">
            <a:off x="14133036" y="-5717064"/>
            <a:ext cx="9177267" cy="9177267"/>
          </a:xfrm>
          <a:custGeom>
            <a:avLst/>
            <a:gdLst/>
            <a:ahLst/>
            <a:cxnLst/>
            <a:rect l="l" t="t" r="r" b="b"/>
            <a:pathLst>
              <a:path w="9177267" h="9177267">
                <a:moveTo>
                  <a:pt x="0" y="0"/>
                </a:moveTo>
                <a:lnTo>
                  <a:pt x="9177266" y="0"/>
                </a:lnTo>
                <a:lnTo>
                  <a:pt x="9177266" y="9177267"/>
                </a:lnTo>
                <a:lnTo>
                  <a:pt x="0" y="917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38D52DE-0082-5ABF-905F-300389910062}"/>
              </a:ext>
            </a:extLst>
          </p:cNvPr>
          <p:cNvSpPr/>
          <p:nvPr/>
        </p:nvSpPr>
        <p:spPr>
          <a:xfrm rot="-6094873">
            <a:off x="-3024596" y="6699896"/>
            <a:ext cx="7824656" cy="7364957"/>
          </a:xfrm>
          <a:custGeom>
            <a:avLst/>
            <a:gdLst/>
            <a:ahLst/>
            <a:cxnLst/>
            <a:rect l="l" t="t" r="r" b="b"/>
            <a:pathLst>
              <a:path w="7824656" h="7364957">
                <a:moveTo>
                  <a:pt x="0" y="0"/>
                </a:moveTo>
                <a:lnTo>
                  <a:pt x="7824655" y="0"/>
                </a:lnTo>
                <a:lnTo>
                  <a:pt x="7824655" y="7364957"/>
                </a:lnTo>
                <a:lnTo>
                  <a:pt x="0" y="736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F1838A0-8955-6609-5A5E-5985FAC52CB3}"/>
              </a:ext>
            </a:extLst>
          </p:cNvPr>
          <p:cNvSpPr/>
          <p:nvPr/>
        </p:nvSpPr>
        <p:spPr>
          <a:xfrm>
            <a:off x="7375956" y="8343900"/>
            <a:ext cx="3531950" cy="3368597"/>
          </a:xfrm>
          <a:custGeom>
            <a:avLst/>
            <a:gdLst/>
            <a:ahLst/>
            <a:cxnLst/>
            <a:rect l="l" t="t" r="r" b="b"/>
            <a:pathLst>
              <a:path w="3531950" h="3368597">
                <a:moveTo>
                  <a:pt x="0" y="0"/>
                </a:moveTo>
                <a:lnTo>
                  <a:pt x="3531950" y="0"/>
                </a:lnTo>
                <a:lnTo>
                  <a:pt x="3531950" y="3368597"/>
                </a:lnTo>
                <a:lnTo>
                  <a:pt x="0" y="3368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5EB632A-4977-2863-44B3-9E997A1FE268}"/>
              </a:ext>
            </a:extLst>
          </p:cNvPr>
          <p:cNvSpPr/>
          <p:nvPr/>
        </p:nvSpPr>
        <p:spPr>
          <a:xfrm>
            <a:off x="15544800" y="8343900"/>
            <a:ext cx="1126932" cy="1120828"/>
          </a:xfrm>
          <a:custGeom>
            <a:avLst/>
            <a:gdLst/>
            <a:ahLst/>
            <a:cxnLst/>
            <a:rect l="l" t="t" r="r" b="b"/>
            <a:pathLst>
              <a:path w="1126932" h="1120828">
                <a:moveTo>
                  <a:pt x="0" y="0"/>
                </a:moveTo>
                <a:lnTo>
                  <a:pt x="1126933" y="0"/>
                </a:lnTo>
                <a:lnTo>
                  <a:pt x="1126933" y="1120828"/>
                </a:lnTo>
                <a:lnTo>
                  <a:pt x="0" y="1120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7998568-B78B-B89A-1392-566B6CB76929}"/>
              </a:ext>
            </a:extLst>
          </p:cNvPr>
          <p:cNvSpPr/>
          <p:nvPr/>
        </p:nvSpPr>
        <p:spPr>
          <a:xfrm>
            <a:off x="8809686" y="9147850"/>
            <a:ext cx="664488" cy="633756"/>
          </a:xfrm>
          <a:custGeom>
            <a:avLst/>
            <a:gdLst/>
            <a:ahLst/>
            <a:cxnLst/>
            <a:rect l="l" t="t" r="r" b="b"/>
            <a:pathLst>
              <a:path w="664488" h="633756">
                <a:moveTo>
                  <a:pt x="0" y="0"/>
                </a:moveTo>
                <a:lnTo>
                  <a:pt x="664489" y="0"/>
                </a:lnTo>
                <a:lnTo>
                  <a:pt x="664489" y="633756"/>
                </a:lnTo>
                <a:lnTo>
                  <a:pt x="0" y="633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A1A5E37-A688-A40E-151D-50FE609A6950}"/>
              </a:ext>
            </a:extLst>
          </p:cNvPr>
          <p:cNvSpPr/>
          <p:nvPr/>
        </p:nvSpPr>
        <p:spPr>
          <a:xfrm>
            <a:off x="1790699" y="1398225"/>
            <a:ext cx="624458" cy="621075"/>
          </a:xfrm>
          <a:custGeom>
            <a:avLst/>
            <a:gdLst/>
            <a:ahLst/>
            <a:cxnLst/>
            <a:rect l="l" t="t" r="r" b="b"/>
            <a:pathLst>
              <a:path w="624458" h="621075">
                <a:moveTo>
                  <a:pt x="0" y="0"/>
                </a:moveTo>
                <a:lnTo>
                  <a:pt x="624458" y="0"/>
                </a:lnTo>
                <a:lnTo>
                  <a:pt x="624458" y="621075"/>
                </a:lnTo>
                <a:lnTo>
                  <a:pt x="0" y="621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F26557-714D-598A-876A-31C501BE8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264495"/>
              </p:ext>
            </p:extLst>
          </p:nvPr>
        </p:nvGraphicFramePr>
        <p:xfrm>
          <a:off x="2386704" y="2231707"/>
          <a:ext cx="13510451" cy="582358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157095">
                  <a:extLst>
                    <a:ext uri="{9D8B030D-6E8A-4147-A177-3AD203B41FA5}">
                      <a16:colId xmlns:a16="http://schemas.microsoft.com/office/drawing/2014/main" val="4023028776"/>
                    </a:ext>
                  </a:extLst>
                </a:gridCol>
                <a:gridCol w="8353356">
                  <a:extLst>
                    <a:ext uri="{9D8B030D-6E8A-4147-A177-3AD203B41FA5}">
                      <a16:colId xmlns:a16="http://schemas.microsoft.com/office/drawing/2014/main" val="2658523322"/>
                    </a:ext>
                  </a:extLst>
                </a:gridCol>
              </a:tblGrid>
              <a:tr h="1105053">
                <a:tc>
                  <a:txBody>
                    <a:bodyPr/>
                    <a:lstStyle/>
                    <a:p>
                      <a:pPr algn="l"/>
                      <a:r>
                        <a:rPr lang="en-US" sz="4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R26-IT-108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258781"/>
                  </a:ext>
                </a:extLst>
              </a:tr>
              <a:tr h="2142878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Intelligent Machines and Systems (AIMS) 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70242"/>
                  </a:ext>
                </a:extLst>
              </a:tr>
              <a:tr h="1105053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Technology 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94698"/>
                  </a:ext>
                </a:extLst>
              </a:tr>
              <a:tr h="1470602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Nelum</a:t>
                      </a:r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Chathuranga </a:t>
                      </a:r>
                      <a:r>
                        <a:rPr lang="en-US" sz="4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Amarasena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561874"/>
                  </a:ext>
                </a:extLst>
              </a:tr>
            </a:tbl>
          </a:graphicData>
        </a:graphic>
      </p:graphicFrame>
      <p:sp>
        <p:nvSpPr>
          <p:cNvPr id="31" name="Freeform 7">
            <a:extLst>
              <a:ext uri="{FF2B5EF4-FFF2-40B4-BE49-F238E27FC236}">
                <a16:creationId xmlns:a16="http://schemas.microsoft.com/office/drawing/2014/main" id="{813A85B5-3968-6677-18F3-47E06E159320}"/>
              </a:ext>
            </a:extLst>
          </p:cNvPr>
          <p:cNvSpPr/>
          <p:nvPr/>
        </p:nvSpPr>
        <p:spPr>
          <a:xfrm>
            <a:off x="11832312" y="934057"/>
            <a:ext cx="664488" cy="633756"/>
          </a:xfrm>
          <a:custGeom>
            <a:avLst/>
            <a:gdLst/>
            <a:ahLst/>
            <a:cxnLst/>
            <a:rect l="l" t="t" r="r" b="b"/>
            <a:pathLst>
              <a:path w="664488" h="633756">
                <a:moveTo>
                  <a:pt x="0" y="0"/>
                </a:moveTo>
                <a:lnTo>
                  <a:pt x="664489" y="0"/>
                </a:lnTo>
                <a:lnTo>
                  <a:pt x="664489" y="633756"/>
                </a:lnTo>
                <a:lnTo>
                  <a:pt x="0" y="633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4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45655">
            <a:off x="5436954" y="-2467876"/>
            <a:ext cx="5354723" cy="5247629"/>
          </a:xfrm>
          <a:custGeom>
            <a:avLst/>
            <a:gdLst/>
            <a:ahLst/>
            <a:cxnLst/>
            <a:rect l="l" t="t" r="r" b="b"/>
            <a:pathLst>
              <a:path w="5354723" h="5247629">
                <a:moveTo>
                  <a:pt x="0" y="0"/>
                </a:moveTo>
                <a:lnTo>
                  <a:pt x="5354724" y="0"/>
                </a:lnTo>
                <a:lnTo>
                  <a:pt x="5354724" y="5247629"/>
                </a:lnTo>
                <a:lnTo>
                  <a:pt x="0" y="5247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911155" y="8263624"/>
            <a:ext cx="4500635" cy="4500635"/>
          </a:xfrm>
          <a:custGeom>
            <a:avLst/>
            <a:gdLst/>
            <a:ahLst/>
            <a:cxnLst/>
            <a:rect l="l" t="t" r="r" b="b"/>
            <a:pathLst>
              <a:path w="4500635" h="4500635">
                <a:moveTo>
                  <a:pt x="0" y="0"/>
                </a:moveTo>
                <a:lnTo>
                  <a:pt x="4500634" y="0"/>
                </a:lnTo>
                <a:lnTo>
                  <a:pt x="4500634" y="4500635"/>
                </a:lnTo>
                <a:lnTo>
                  <a:pt x="0" y="4500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8743755" y="2591899"/>
            <a:ext cx="770640" cy="770640"/>
          </a:xfrm>
          <a:custGeom>
            <a:avLst/>
            <a:gdLst/>
            <a:ahLst/>
            <a:cxnLst/>
            <a:rect l="l" t="t" r="r" b="b"/>
            <a:pathLst>
              <a:path w="770640" h="770640">
                <a:moveTo>
                  <a:pt x="0" y="0"/>
                </a:moveTo>
                <a:lnTo>
                  <a:pt x="770640" y="0"/>
                </a:lnTo>
                <a:lnTo>
                  <a:pt x="770640" y="770640"/>
                </a:lnTo>
                <a:lnTo>
                  <a:pt x="0" y="770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699643">
            <a:off x="889257" y="5547829"/>
            <a:ext cx="8597407" cy="8092309"/>
          </a:xfrm>
          <a:custGeom>
            <a:avLst/>
            <a:gdLst/>
            <a:ahLst/>
            <a:cxnLst/>
            <a:rect l="l" t="t" r="r" b="b"/>
            <a:pathLst>
              <a:path w="8597407" h="8092309">
                <a:moveTo>
                  <a:pt x="0" y="0"/>
                </a:moveTo>
                <a:lnTo>
                  <a:pt x="8597407" y="0"/>
                </a:lnTo>
                <a:lnTo>
                  <a:pt x="8597407" y="8092309"/>
                </a:lnTo>
                <a:lnTo>
                  <a:pt x="0" y="8092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Freeform 10"/>
          <p:cNvSpPr/>
          <p:nvPr/>
        </p:nvSpPr>
        <p:spPr>
          <a:xfrm rot="1904755" flipV="1">
            <a:off x="7043367" y="-1215221"/>
            <a:ext cx="4624926" cy="5145953"/>
          </a:xfrm>
          <a:custGeom>
            <a:avLst/>
            <a:gdLst/>
            <a:ahLst/>
            <a:cxnLst/>
            <a:rect l="l" t="t" r="r" b="b"/>
            <a:pathLst>
              <a:path w="4624926" h="5145953">
                <a:moveTo>
                  <a:pt x="0" y="5145953"/>
                </a:moveTo>
                <a:lnTo>
                  <a:pt x="4624925" y="5145953"/>
                </a:lnTo>
                <a:lnTo>
                  <a:pt x="4624925" y="0"/>
                </a:lnTo>
                <a:lnTo>
                  <a:pt x="0" y="0"/>
                </a:lnTo>
                <a:lnTo>
                  <a:pt x="0" y="5145953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131AD02B-E808-0698-27B4-AED27CA3F14C}"/>
              </a:ext>
            </a:extLst>
          </p:cNvPr>
          <p:cNvSpPr txBox="1"/>
          <p:nvPr/>
        </p:nvSpPr>
        <p:spPr>
          <a:xfrm>
            <a:off x="4787295" y="1443336"/>
            <a:ext cx="3721289" cy="371443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</a:pPr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0FA3C43-0221-6527-AA6A-1483424743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2" b="6012"/>
          <a:stretch/>
        </p:blipFill>
        <p:spPr>
          <a:xfrm>
            <a:off x="12676105" y="2861298"/>
            <a:ext cx="2640095" cy="36646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B366CAB-E955-4A84-9995-F83D29B98B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7" t="24224" r="19107"/>
          <a:stretch>
            <a:fillRect/>
          </a:stretch>
        </p:blipFill>
        <p:spPr>
          <a:xfrm>
            <a:off x="15419305" y="2854285"/>
            <a:ext cx="2640095" cy="36646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AC88B5A-5E81-939E-A432-230B75D7EB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9" r="13979"/>
          <a:stretch/>
        </p:blipFill>
        <p:spPr>
          <a:xfrm>
            <a:off x="135694" y="1955725"/>
            <a:ext cx="3374745" cy="468435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D391143-0B46-3A65-19FE-D0F2D07ED2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9" r="13979"/>
          <a:stretch/>
        </p:blipFill>
        <p:spPr>
          <a:xfrm>
            <a:off x="3657600" y="1990343"/>
            <a:ext cx="3341332" cy="46379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EA88C6F-AD45-91B4-C9FA-BCC8B6CFE6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r="8484"/>
          <a:stretch/>
        </p:blipFill>
        <p:spPr>
          <a:xfrm>
            <a:off x="9932905" y="2861298"/>
            <a:ext cx="2640095" cy="36646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4622F09-1BD7-C61A-B742-26114656C6A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" r="1971"/>
          <a:stretch/>
        </p:blipFill>
        <p:spPr>
          <a:xfrm>
            <a:off x="7163172" y="2824467"/>
            <a:ext cx="2693161" cy="37382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7" name="TextBox 16">
            <a:extLst>
              <a:ext uri="{FF2B5EF4-FFF2-40B4-BE49-F238E27FC236}">
                <a16:creationId xmlns:a16="http://schemas.microsoft.com/office/drawing/2014/main" id="{F67367A2-88BF-C3F5-4B04-212A2D940C87}"/>
              </a:ext>
            </a:extLst>
          </p:cNvPr>
          <p:cNvSpPr txBox="1"/>
          <p:nvPr/>
        </p:nvSpPr>
        <p:spPr>
          <a:xfrm>
            <a:off x="177389" y="7161948"/>
            <a:ext cx="3341332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Supervisor : Mr. </a:t>
            </a:r>
            <a:r>
              <a:rPr lang="en-US" sz="2000" b="1" dirty="0" err="1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Nelum</a:t>
            </a: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 Chathuranga </a:t>
            </a:r>
            <a:r>
              <a:rPr lang="en-US" sz="2000" b="1" dirty="0" err="1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Amarasena</a:t>
            </a:r>
            <a:endParaRPr lang="en-US" sz="2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C01C92CC-9E35-4A1A-BF77-A6F1CC7DD872}"/>
              </a:ext>
            </a:extLst>
          </p:cNvPr>
          <p:cNvSpPr txBox="1"/>
          <p:nvPr/>
        </p:nvSpPr>
        <p:spPr>
          <a:xfrm>
            <a:off x="3657600" y="7214504"/>
            <a:ext cx="3341332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 err="1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Cosupervisor</a:t>
            </a: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 : Mr. Samadhi Rathnayake</a:t>
            </a: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D2F4B2C0-06A0-3A65-A76F-5CE185DC3D32}"/>
              </a:ext>
            </a:extLst>
          </p:cNvPr>
          <p:cNvSpPr txBox="1"/>
          <p:nvPr/>
        </p:nvSpPr>
        <p:spPr>
          <a:xfrm>
            <a:off x="8077200" y="1233074"/>
            <a:ext cx="5620939" cy="449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6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OUR TEAM</a:t>
            </a:r>
          </a:p>
        </p:txBody>
      </p:sp>
      <p:sp>
        <p:nvSpPr>
          <p:cNvPr id="60" name="Freeform 7">
            <a:extLst>
              <a:ext uri="{FF2B5EF4-FFF2-40B4-BE49-F238E27FC236}">
                <a16:creationId xmlns:a16="http://schemas.microsoft.com/office/drawing/2014/main" id="{5438190E-E135-B471-6FC4-E2E609919507}"/>
              </a:ext>
            </a:extLst>
          </p:cNvPr>
          <p:cNvSpPr/>
          <p:nvPr/>
        </p:nvSpPr>
        <p:spPr>
          <a:xfrm>
            <a:off x="13831768" y="246916"/>
            <a:ext cx="3341332" cy="2221677"/>
          </a:xfrm>
          <a:custGeom>
            <a:avLst/>
            <a:gdLst/>
            <a:ahLst/>
            <a:cxnLst/>
            <a:rect l="l" t="t" r="r" b="b"/>
            <a:pathLst>
              <a:path w="4358318" h="2887386">
                <a:moveTo>
                  <a:pt x="0" y="0"/>
                </a:moveTo>
                <a:lnTo>
                  <a:pt x="4358318" y="0"/>
                </a:lnTo>
                <a:lnTo>
                  <a:pt x="4358318" y="2887385"/>
                </a:lnTo>
                <a:lnTo>
                  <a:pt x="0" y="28873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b="1" dirty="0"/>
          </a:p>
        </p:txBody>
      </p:sp>
      <p:sp>
        <p:nvSpPr>
          <p:cNvPr id="61" name="TextBox 16">
            <a:extLst>
              <a:ext uri="{FF2B5EF4-FFF2-40B4-BE49-F238E27FC236}">
                <a16:creationId xmlns:a16="http://schemas.microsoft.com/office/drawing/2014/main" id="{A6D8F9C3-AB22-2FDC-188A-A156D12DFF45}"/>
              </a:ext>
            </a:extLst>
          </p:cNvPr>
          <p:cNvSpPr txBox="1"/>
          <p:nvPr/>
        </p:nvSpPr>
        <p:spPr>
          <a:xfrm>
            <a:off x="7198584" y="7200900"/>
            <a:ext cx="2859816" cy="1047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Name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Abeysinghe S.A.M.M.</a:t>
            </a:r>
          </a:p>
          <a:p>
            <a:pPr>
              <a:lnSpc>
                <a:spcPts val="28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IT.No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IT22081148 </a:t>
            </a:r>
            <a:endParaRPr lang="en-US" sz="2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A7E552A2-18AF-7E2E-BC48-EDE723A0A314}"/>
              </a:ext>
            </a:extLst>
          </p:cNvPr>
          <p:cNvSpPr txBox="1"/>
          <p:nvPr/>
        </p:nvSpPr>
        <p:spPr>
          <a:xfrm>
            <a:off x="9932905" y="7200900"/>
            <a:ext cx="3341332" cy="688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Name 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Lakshan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N.K.T. </a:t>
            </a:r>
          </a:p>
          <a:p>
            <a:pPr>
              <a:lnSpc>
                <a:spcPts val="28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IT.No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IT22196156 </a:t>
            </a:r>
            <a:endParaRPr lang="en-US" sz="2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DC41C7A9-52FB-98CE-F114-14036AA94F3F}"/>
              </a:ext>
            </a:extLst>
          </p:cNvPr>
          <p:cNvSpPr txBox="1"/>
          <p:nvPr/>
        </p:nvSpPr>
        <p:spPr>
          <a:xfrm>
            <a:off x="12709833" y="7067769"/>
            <a:ext cx="2834967" cy="1047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Name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Dissanayaka D.M.S.K. </a:t>
            </a:r>
          </a:p>
          <a:p>
            <a:pPr>
              <a:lnSpc>
                <a:spcPts val="28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IT.No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IT22291196 </a:t>
            </a:r>
            <a:endParaRPr lang="en-US" sz="2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64" name="TextBox 16">
            <a:extLst>
              <a:ext uri="{FF2B5EF4-FFF2-40B4-BE49-F238E27FC236}">
                <a16:creationId xmlns:a16="http://schemas.microsoft.com/office/drawing/2014/main" id="{45972DAF-7377-3B8D-9BC3-259AF092289B}"/>
              </a:ext>
            </a:extLst>
          </p:cNvPr>
          <p:cNvSpPr txBox="1"/>
          <p:nvPr/>
        </p:nvSpPr>
        <p:spPr>
          <a:xfrm>
            <a:off x="15603618" y="7072004"/>
            <a:ext cx="2834967" cy="688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231F20"/>
                </a:solidFill>
                <a:latin typeface="Times New Roman" panose="02020603050405020304" pitchFamily="18" charset="0"/>
                <a:ea typeface="TT Firs Neue Bold"/>
                <a:cs typeface="Times New Roman" panose="02020603050405020304" pitchFamily="18" charset="0"/>
                <a:sym typeface="TT Firs Neue Bold"/>
              </a:rPr>
              <a:t>Name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Peshala E.A.P.</a:t>
            </a:r>
          </a:p>
          <a:p>
            <a:pPr>
              <a:lnSpc>
                <a:spcPts val="28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IT.No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IT22146410 </a:t>
            </a:r>
            <a:endParaRPr lang="en-US" sz="2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6879849" y="-1638300"/>
            <a:ext cx="5738321" cy="3407128"/>
          </a:xfrm>
          <a:custGeom>
            <a:avLst/>
            <a:gdLst/>
            <a:ahLst/>
            <a:cxnLst/>
            <a:rect l="l" t="t" r="r" b="b"/>
            <a:pathLst>
              <a:path w="5738321" h="3407128">
                <a:moveTo>
                  <a:pt x="0" y="3407128"/>
                </a:moveTo>
                <a:lnTo>
                  <a:pt x="5738321" y="3407128"/>
                </a:lnTo>
                <a:lnTo>
                  <a:pt x="5738321" y="0"/>
                </a:lnTo>
                <a:lnTo>
                  <a:pt x="0" y="0"/>
                </a:lnTo>
                <a:lnTo>
                  <a:pt x="0" y="3407128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9564150">
            <a:off x="-2543492" y="7601883"/>
            <a:ext cx="8029127" cy="3412379"/>
          </a:xfrm>
          <a:custGeom>
            <a:avLst/>
            <a:gdLst/>
            <a:ahLst/>
            <a:cxnLst/>
            <a:rect l="l" t="t" r="r" b="b"/>
            <a:pathLst>
              <a:path w="8029127" h="3412379">
                <a:moveTo>
                  <a:pt x="0" y="0"/>
                </a:moveTo>
                <a:lnTo>
                  <a:pt x="8029127" y="0"/>
                </a:lnTo>
                <a:lnTo>
                  <a:pt x="8029127" y="3412379"/>
                </a:lnTo>
                <a:lnTo>
                  <a:pt x="0" y="3412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1600200" y="4229100"/>
            <a:ext cx="5649511" cy="3982286"/>
            <a:chOff x="0" y="-47625"/>
            <a:chExt cx="1402314" cy="7459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2314" cy="698297"/>
            </a:xfrm>
            <a:custGeom>
              <a:avLst/>
              <a:gdLst/>
              <a:ahLst/>
              <a:cxnLst/>
              <a:rect l="l" t="t" r="r" b="b"/>
              <a:pathLst>
                <a:path w="1402314" h="698297">
                  <a:moveTo>
                    <a:pt x="39741" y="0"/>
                  </a:moveTo>
                  <a:lnTo>
                    <a:pt x="1362573" y="0"/>
                  </a:lnTo>
                  <a:cubicBezTo>
                    <a:pt x="1384521" y="0"/>
                    <a:pt x="1402314" y="17793"/>
                    <a:pt x="1402314" y="39741"/>
                  </a:cubicBezTo>
                  <a:lnTo>
                    <a:pt x="1402314" y="658556"/>
                  </a:lnTo>
                  <a:cubicBezTo>
                    <a:pt x="1402314" y="680504"/>
                    <a:pt x="1384521" y="698297"/>
                    <a:pt x="1362573" y="698297"/>
                  </a:cubicBezTo>
                  <a:lnTo>
                    <a:pt x="39741" y="698297"/>
                  </a:lnTo>
                  <a:cubicBezTo>
                    <a:pt x="17793" y="698297"/>
                    <a:pt x="0" y="680504"/>
                    <a:pt x="0" y="658556"/>
                  </a:cubicBezTo>
                  <a:lnTo>
                    <a:pt x="0" y="39741"/>
                  </a:lnTo>
                  <a:cubicBezTo>
                    <a:pt x="0" y="17793"/>
                    <a:pt x="17793" y="0"/>
                    <a:pt x="39741" y="0"/>
                  </a:cubicBezTo>
                  <a:close/>
                </a:path>
              </a:pathLst>
            </a:custGeom>
            <a:solidFill>
              <a:srgbClr val="E3D79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02314" cy="745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92470" y="7463246"/>
            <a:ext cx="2102602" cy="2823754"/>
          </a:xfrm>
          <a:custGeom>
            <a:avLst/>
            <a:gdLst/>
            <a:ahLst/>
            <a:cxnLst/>
            <a:rect l="l" t="t" r="r" b="b"/>
            <a:pathLst>
              <a:path w="2102602" h="3461074">
                <a:moveTo>
                  <a:pt x="0" y="0"/>
                </a:moveTo>
                <a:lnTo>
                  <a:pt x="2102603" y="0"/>
                </a:lnTo>
                <a:lnTo>
                  <a:pt x="2102603" y="3461074"/>
                </a:lnTo>
                <a:lnTo>
                  <a:pt x="0" y="3461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590800" y="1904214"/>
            <a:ext cx="16840200" cy="724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6000" b="1" spc="-308" dirty="0">
                <a:solidFill>
                  <a:srgbClr val="231F20"/>
                </a:solidFill>
                <a:latin typeface="Times New Roman" panose="02020603050405020304" pitchFamily="18" charset="0"/>
                <a:ea typeface="Heading Now 71-78"/>
                <a:cs typeface="Times New Roman" panose="02020603050405020304" pitchFamily="18" charset="0"/>
                <a:sym typeface="Heading Now 71-78"/>
              </a:rPr>
              <a:t>The Problem: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Health Risks at Home </a:t>
            </a:r>
            <a:endParaRPr lang="en-US" sz="6000" b="1" spc="-308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26916" y="4924228"/>
            <a:ext cx="4652741" cy="3218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Falls</a:t>
            </a:r>
          </a:p>
          <a:p>
            <a:pPr algn="just">
              <a:lnSpc>
                <a:spcPts val="28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Silent hypoxia (low oxygen levels without symptoms) </a:t>
            </a:r>
          </a:p>
          <a:p>
            <a:pPr algn="just">
              <a:lnSpc>
                <a:spcPts val="28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Cardiac arrhythmias</a:t>
            </a:r>
          </a:p>
          <a:p>
            <a:pPr algn="just">
              <a:lnSpc>
                <a:spcPts val="28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or internal pain  </a:t>
            </a:r>
          </a:p>
          <a:p>
            <a:pPr algn="just">
              <a:lnSpc>
                <a:spcPts val="2800"/>
              </a:lnSpc>
            </a:pPr>
            <a:endParaRPr lang="en-US" sz="2000" dirty="0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D8425B51-D365-335C-076B-D5B51BAC6B80}"/>
              </a:ext>
            </a:extLst>
          </p:cNvPr>
          <p:cNvSpPr txBox="1"/>
          <p:nvPr/>
        </p:nvSpPr>
        <p:spPr>
          <a:xfrm>
            <a:off x="1600200" y="3205770"/>
            <a:ext cx="10820400" cy="71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individuals living independently often experience undetected health emergencies such as: </a:t>
            </a:r>
            <a:endParaRPr lang="en-US" sz="3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79D5F80A-511D-A882-00A8-84E11947B965}"/>
              </a:ext>
            </a:extLst>
          </p:cNvPr>
          <p:cNvSpPr txBox="1"/>
          <p:nvPr/>
        </p:nvSpPr>
        <p:spPr>
          <a:xfrm>
            <a:off x="9104996" y="4073133"/>
            <a:ext cx="7996470" cy="1077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conditions can develop without immediate warning, leading to delayed medical intervention. </a:t>
            </a:r>
            <a:endParaRPr lang="en-US" sz="3000" b="1" dirty="0">
              <a:solidFill>
                <a:srgbClr val="231F20"/>
              </a:solidFill>
              <a:latin typeface="Times New Roman" panose="02020603050405020304" pitchFamily="18" charset="0"/>
              <a:ea typeface="TT Firs Neue Bold"/>
              <a:cs typeface="Times New Roman" panose="02020603050405020304" pitchFamily="18" charset="0"/>
              <a:sym typeface="TT Firs Neue Bold"/>
            </a:endParaRP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3E56F906-FA46-AA4C-3425-DB146A18A31C}"/>
              </a:ext>
            </a:extLst>
          </p:cNvPr>
          <p:cNvSpPr/>
          <p:nvPr/>
        </p:nvSpPr>
        <p:spPr>
          <a:xfrm>
            <a:off x="9238798" y="5408621"/>
            <a:ext cx="7728866" cy="4461164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</a:p>
          <a:p>
            <a:pPr algn="ctr"/>
            <a:endParaRPr lang="en-US" sz="3200" dirty="0"/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Falls are the leading cause of injury-related deaths among elderly people.</a:t>
            </a:r>
          </a:p>
          <a:p>
            <a:pPr marL="457200" indent="-457200" algn="ctr">
              <a:buFont typeface="Wingdings" panose="05000000000000000000" pitchFamily="2" charset="2"/>
              <a:buChar char="ü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Silent physiological deterioration can occur hours before symptoms appear.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868400" y="-4442818"/>
            <a:ext cx="7024323" cy="7024323"/>
          </a:xfrm>
          <a:custGeom>
            <a:avLst/>
            <a:gdLst/>
            <a:ahLst/>
            <a:cxnLst/>
            <a:rect l="l" t="t" r="r" b="b"/>
            <a:pathLst>
              <a:path w="7024323" h="7024323">
                <a:moveTo>
                  <a:pt x="0" y="0"/>
                </a:moveTo>
                <a:lnTo>
                  <a:pt x="7024323" y="0"/>
                </a:lnTo>
                <a:lnTo>
                  <a:pt x="7024323" y="7024323"/>
                </a:lnTo>
                <a:lnTo>
                  <a:pt x="0" y="7024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860628" y="2551463"/>
            <a:ext cx="6902372" cy="6173437"/>
            <a:chOff x="0" y="0"/>
            <a:chExt cx="1817909" cy="16421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7909" cy="1642185"/>
            </a:xfrm>
            <a:custGeom>
              <a:avLst/>
              <a:gdLst/>
              <a:ahLst/>
              <a:cxnLst/>
              <a:rect l="l" t="t" r="r" b="b"/>
              <a:pathLst>
                <a:path w="1817909" h="1642185">
                  <a:moveTo>
                    <a:pt x="35892" y="0"/>
                  </a:moveTo>
                  <a:lnTo>
                    <a:pt x="1782017" y="0"/>
                  </a:lnTo>
                  <a:cubicBezTo>
                    <a:pt x="1791536" y="0"/>
                    <a:pt x="1800665" y="3781"/>
                    <a:pt x="1807396" y="10513"/>
                  </a:cubicBezTo>
                  <a:cubicBezTo>
                    <a:pt x="1814127" y="17244"/>
                    <a:pt x="1817909" y="26373"/>
                    <a:pt x="1817909" y="35892"/>
                  </a:cubicBezTo>
                  <a:lnTo>
                    <a:pt x="1817909" y="1606293"/>
                  </a:lnTo>
                  <a:cubicBezTo>
                    <a:pt x="1817909" y="1626115"/>
                    <a:pt x="1801839" y="1642185"/>
                    <a:pt x="1782017" y="1642185"/>
                  </a:cubicBezTo>
                  <a:lnTo>
                    <a:pt x="35892" y="1642185"/>
                  </a:lnTo>
                  <a:cubicBezTo>
                    <a:pt x="26373" y="1642185"/>
                    <a:pt x="17244" y="1638403"/>
                    <a:pt x="10513" y="1631672"/>
                  </a:cubicBezTo>
                  <a:cubicBezTo>
                    <a:pt x="3781" y="1624941"/>
                    <a:pt x="0" y="1615812"/>
                    <a:pt x="0" y="1606293"/>
                  </a:cubicBezTo>
                  <a:lnTo>
                    <a:pt x="0" y="35892"/>
                  </a:lnTo>
                  <a:cubicBezTo>
                    <a:pt x="0" y="16069"/>
                    <a:pt x="16069" y="0"/>
                    <a:pt x="35892" y="0"/>
                  </a:cubicBezTo>
                  <a:close/>
                </a:path>
              </a:pathLst>
            </a:custGeom>
            <a:solidFill>
              <a:srgbClr val="FFD9C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17909" cy="1689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515421" y="4922588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15421" y="6045550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496800" y="292004"/>
            <a:ext cx="654793" cy="654793"/>
          </a:xfrm>
          <a:custGeom>
            <a:avLst/>
            <a:gdLst/>
            <a:ahLst/>
            <a:cxnLst/>
            <a:rect l="l" t="t" r="r" b="b"/>
            <a:pathLst>
              <a:path w="654793" h="654793">
                <a:moveTo>
                  <a:pt x="0" y="0"/>
                </a:moveTo>
                <a:lnTo>
                  <a:pt x="654793" y="0"/>
                </a:lnTo>
                <a:lnTo>
                  <a:pt x="654793" y="654793"/>
                </a:lnTo>
                <a:lnTo>
                  <a:pt x="0" y="654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997858">
            <a:off x="16297090" y="7360424"/>
            <a:ext cx="3048175" cy="2043547"/>
          </a:xfrm>
          <a:custGeom>
            <a:avLst/>
            <a:gdLst/>
            <a:ahLst/>
            <a:cxnLst/>
            <a:rect l="l" t="t" r="r" b="b"/>
            <a:pathLst>
              <a:path w="3048175" h="2043547">
                <a:moveTo>
                  <a:pt x="0" y="0"/>
                </a:moveTo>
                <a:lnTo>
                  <a:pt x="3048175" y="0"/>
                </a:lnTo>
                <a:lnTo>
                  <a:pt x="3048175" y="2043547"/>
                </a:lnTo>
                <a:lnTo>
                  <a:pt x="0" y="20435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813386" y="1168643"/>
            <a:ext cx="834889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and Stakeholders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967264" y="3763370"/>
            <a:ext cx="4712210" cy="3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 </a:t>
            </a:r>
            <a:endParaRPr lang="en-US" sz="4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438928" y="4996267"/>
            <a:ext cx="4712210" cy="73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aged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65+ living </a:t>
            </a:r>
            <a:r>
              <a:rPr lang="en-US" sz="3200" b="1" dirty="0"/>
              <a:t>independently</a:t>
            </a:r>
            <a:endParaRPr lang="en-US" sz="3000" b="1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36067" y="6047856"/>
            <a:ext cx="4712210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with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health conditions </a:t>
            </a:r>
            <a:endParaRPr lang="en-US" sz="3000" b="1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5296784" y="1374244"/>
            <a:ext cx="1108204" cy="425714"/>
          </a:xfrm>
          <a:custGeom>
            <a:avLst/>
            <a:gdLst/>
            <a:ahLst/>
            <a:cxnLst/>
            <a:rect l="l" t="t" r="r" b="b"/>
            <a:pathLst>
              <a:path w="1108204" h="425714">
                <a:moveTo>
                  <a:pt x="0" y="0"/>
                </a:moveTo>
                <a:lnTo>
                  <a:pt x="1108205" y="0"/>
                </a:lnTo>
                <a:lnTo>
                  <a:pt x="1108205" y="425715"/>
                </a:lnTo>
                <a:lnTo>
                  <a:pt x="0" y="425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131577" b="-43024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B88CA3DE-1DAD-8AB3-77FC-D95284890E41}"/>
              </a:ext>
            </a:extLst>
          </p:cNvPr>
          <p:cNvGrpSpPr/>
          <p:nvPr/>
        </p:nvGrpSpPr>
        <p:grpSpPr>
          <a:xfrm>
            <a:off x="9448800" y="2551463"/>
            <a:ext cx="6902372" cy="6173437"/>
            <a:chOff x="0" y="0"/>
            <a:chExt cx="1817909" cy="1642185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955F0D1D-EA26-1032-E755-DA6D87F0AA04}"/>
                </a:ext>
              </a:extLst>
            </p:cNvPr>
            <p:cNvSpPr/>
            <p:nvPr/>
          </p:nvSpPr>
          <p:spPr>
            <a:xfrm>
              <a:off x="0" y="0"/>
              <a:ext cx="1817909" cy="1642185"/>
            </a:xfrm>
            <a:custGeom>
              <a:avLst/>
              <a:gdLst/>
              <a:ahLst/>
              <a:cxnLst/>
              <a:rect l="l" t="t" r="r" b="b"/>
              <a:pathLst>
                <a:path w="1817909" h="1642185">
                  <a:moveTo>
                    <a:pt x="35892" y="0"/>
                  </a:moveTo>
                  <a:lnTo>
                    <a:pt x="1782017" y="0"/>
                  </a:lnTo>
                  <a:cubicBezTo>
                    <a:pt x="1791536" y="0"/>
                    <a:pt x="1800665" y="3781"/>
                    <a:pt x="1807396" y="10513"/>
                  </a:cubicBezTo>
                  <a:cubicBezTo>
                    <a:pt x="1814127" y="17244"/>
                    <a:pt x="1817909" y="26373"/>
                    <a:pt x="1817909" y="35892"/>
                  </a:cubicBezTo>
                  <a:lnTo>
                    <a:pt x="1817909" y="1606293"/>
                  </a:lnTo>
                  <a:cubicBezTo>
                    <a:pt x="1817909" y="1626115"/>
                    <a:pt x="1801839" y="1642185"/>
                    <a:pt x="1782017" y="1642185"/>
                  </a:cubicBezTo>
                  <a:lnTo>
                    <a:pt x="35892" y="1642185"/>
                  </a:lnTo>
                  <a:cubicBezTo>
                    <a:pt x="26373" y="1642185"/>
                    <a:pt x="17244" y="1638403"/>
                    <a:pt x="10513" y="1631672"/>
                  </a:cubicBezTo>
                  <a:cubicBezTo>
                    <a:pt x="3781" y="1624941"/>
                    <a:pt x="0" y="1615812"/>
                    <a:pt x="0" y="1606293"/>
                  </a:cubicBezTo>
                  <a:lnTo>
                    <a:pt x="0" y="35892"/>
                  </a:lnTo>
                  <a:cubicBezTo>
                    <a:pt x="0" y="16069"/>
                    <a:pt x="16069" y="0"/>
                    <a:pt x="35892" y="0"/>
                  </a:cubicBezTo>
                  <a:close/>
                </a:path>
              </a:pathLst>
            </a:custGeom>
            <a:solidFill>
              <a:srgbClr val="FFD9C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E1B0ED20-8E02-0F39-6B0F-CEA50843E775}"/>
                </a:ext>
              </a:extLst>
            </p:cNvPr>
            <p:cNvSpPr txBox="1"/>
            <p:nvPr/>
          </p:nvSpPr>
          <p:spPr>
            <a:xfrm>
              <a:off x="0" y="-47625"/>
              <a:ext cx="1817909" cy="1689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7" name="Freeform 9">
            <a:extLst>
              <a:ext uri="{FF2B5EF4-FFF2-40B4-BE49-F238E27FC236}">
                <a16:creationId xmlns:a16="http://schemas.microsoft.com/office/drawing/2014/main" id="{8DB767B4-D0F3-5004-F459-E7A50A9B8A74}"/>
              </a:ext>
            </a:extLst>
          </p:cNvPr>
          <p:cNvSpPr/>
          <p:nvPr/>
        </p:nvSpPr>
        <p:spPr>
          <a:xfrm>
            <a:off x="10103593" y="4762500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56AE6070-35BA-DB7C-8F88-2A2A73B6290A}"/>
              </a:ext>
            </a:extLst>
          </p:cNvPr>
          <p:cNvSpPr/>
          <p:nvPr/>
        </p:nvSpPr>
        <p:spPr>
          <a:xfrm>
            <a:off x="10134600" y="5816950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6FC340DA-12B1-3DC0-8FB1-482779B2DE13}"/>
              </a:ext>
            </a:extLst>
          </p:cNvPr>
          <p:cNvSpPr/>
          <p:nvPr/>
        </p:nvSpPr>
        <p:spPr>
          <a:xfrm>
            <a:off x="10134600" y="6819900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AE593524-4EAC-B98A-774D-25A8111E6D72}"/>
              </a:ext>
            </a:extLst>
          </p:cNvPr>
          <p:cNvSpPr txBox="1"/>
          <p:nvPr/>
        </p:nvSpPr>
        <p:spPr>
          <a:xfrm>
            <a:off x="11027100" y="4892327"/>
            <a:ext cx="5584500" cy="359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and caregivers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AC3B3A78-C4E3-CD87-BEA4-C5D30E078A63}"/>
              </a:ext>
            </a:extLst>
          </p:cNvPr>
          <p:cNvSpPr txBox="1"/>
          <p:nvPr/>
        </p:nvSpPr>
        <p:spPr>
          <a:xfrm>
            <a:off x="11024238" y="5850843"/>
            <a:ext cx="5584499" cy="359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emergency services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6EBBA8BA-A6D4-96FD-3E2C-8A420A6C94AC}"/>
              </a:ext>
            </a:extLst>
          </p:cNvPr>
          <p:cNvSpPr txBox="1"/>
          <p:nvPr/>
        </p:nvSpPr>
        <p:spPr>
          <a:xfrm>
            <a:off x="11024239" y="6866390"/>
            <a:ext cx="4712210" cy="35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living facilities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27D8B3AA-76B2-9106-2C0C-4D31413741AB}"/>
              </a:ext>
            </a:extLst>
          </p:cNvPr>
          <p:cNvSpPr txBox="1"/>
          <p:nvPr/>
        </p:nvSpPr>
        <p:spPr>
          <a:xfrm>
            <a:off x="10654800" y="3782508"/>
            <a:ext cx="4712210" cy="40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lang="en-US" sz="4000" dirty="0"/>
              <a:t> </a:t>
            </a:r>
            <a:endParaRPr lang="en-US" sz="4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A4EC60D3-B537-EFBB-5F54-8D1FF8E548D6}"/>
              </a:ext>
            </a:extLst>
          </p:cNvPr>
          <p:cNvSpPr/>
          <p:nvPr/>
        </p:nvSpPr>
        <p:spPr>
          <a:xfrm>
            <a:off x="10134600" y="7758889"/>
            <a:ext cx="551207" cy="545750"/>
          </a:xfrm>
          <a:custGeom>
            <a:avLst/>
            <a:gdLst/>
            <a:ahLst/>
            <a:cxnLst/>
            <a:rect l="l" t="t" r="r" b="b"/>
            <a:pathLst>
              <a:path w="551207" h="551207">
                <a:moveTo>
                  <a:pt x="0" y="0"/>
                </a:moveTo>
                <a:lnTo>
                  <a:pt x="551207" y="0"/>
                </a:lnTo>
                <a:lnTo>
                  <a:pt x="551207" y="551207"/>
                </a:lnTo>
                <a:lnTo>
                  <a:pt x="0" y="55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813C2B06-597B-5688-CF38-9499B6AB6E68}"/>
              </a:ext>
            </a:extLst>
          </p:cNvPr>
          <p:cNvSpPr txBox="1"/>
          <p:nvPr/>
        </p:nvSpPr>
        <p:spPr>
          <a:xfrm>
            <a:off x="11024239" y="7857739"/>
            <a:ext cx="4712210" cy="35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providers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1B100F4B-C70F-AD16-1343-F92CC82B7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668121"/>
            <a:ext cx="6767053" cy="9047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Freeform 2"/>
          <p:cNvSpPr/>
          <p:nvPr/>
        </p:nvSpPr>
        <p:spPr>
          <a:xfrm>
            <a:off x="-1658433" y="-1717412"/>
            <a:ext cx="4428484" cy="4114800"/>
          </a:xfrm>
          <a:custGeom>
            <a:avLst/>
            <a:gdLst/>
            <a:ahLst/>
            <a:cxnLst/>
            <a:rect l="l" t="t" r="r" b="b"/>
            <a:pathLst>
              <a:path w="4428484" h="4114800">
                <a:moveTo>
                  <a:pt x="0" y="0"/>
                </a:moveTo>
                <a:lnTo>
                  <a:pt x="4428485" y="0"/>
                </a:lnTo>
                <a:lnTo>
                  <a:pt x="44284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203958" y="2019300"/>
            <a:ext cx="6406642" cy="3769890"/>
            <a:chOff x="0" y="0"/>
            <a:chExt cx="1427552" cy="69125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27552" cy="691253"/>
            </a:xfrm>
            <a:custGeom>
              <a:avLst/>
              <a:gdLst/>
              <a:ahLst/>
              <a:cxnLst/>
              <a:rect l="l" t="t" r="r" b="b"/>
              <a:pathLst>
                <a:path w="1427552" h="691253">
                  <a:moveTo>
                    <a:pt x="22884" y="0"/>
                  </a:moveTo>
                  <a:lnTo>
                    <a:pt x="1404667" y="0"/>
                  </a:lnTo>
                  <a:cubicBezTo>
                    <a:pt x="1410737" y="0"/>
                    <a:pt x="1416557" y="2411"/>
                    <a:pt x="1420849" y="6703"/>
                  </a:cubicBezTo>
                  <a:cubicBezTo>
                    <a:pt x="1425141" y="10994"/>
                    <a:pt x="1427552" y="16815"/>
                    <a:pt x="1427552" y="22884"/>
                  </a:cubicBezTo>
                  <a:lnTo>
                    <a:pt x="1427552" y="668368"/>
                  </a:lnTo>
                  <a:cubicBezTo>
                    <a:pt x="1427552" y="681007"/>
                    <a:pt x="1417306" y="691253"/>
                    <a:pt x="1404667" y="691253"/>
                  </a:cubicBezTo>
                  <a:lnTo>
                    <a:pt x="22884" y="691253"/>
                  </a:lnTo>
                  <a:cubicBezTo>
                    <a:pt x="16815" y="691253"/>
                    <a:pt x="10994" y="688842"/>
                    <a:pt x="6703" y="684550"/>
                  </a:cubicBezTo>
                  <a:cubicBezTo>
                    <a:pt x="2411" y="680258"/>
                    <a:pt x="0" y="674438"/>
                    <a:pt x="0" y="668368"/>
                  </a:cubicBezTo>
                  <a:lnTo>
                    <a:pt x="0" y="22884"/>
                  </a:lnTo>
                  <a:cubicBezTo>
                    <a:pt x="0" y="16815"/>
                    <a:pt x="2411" y="10994"/>
                    <a:pt x="6703" y="6703"/>
                  </a:cubicBezTo>
                  <a:cubicBezTo>
                    <a:pt x="10994" y="2411"/>
                    <a:pt x="16815" y="0"/>
                    <a:pt x="22884" y="0"/>
                  </a:cubicBez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27552" cy="73887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09776" y="571500"/>
            <a:ext cx="1046322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Problem 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750386" y="2450429"/>
            <a:ext cx="5501708" cy="2872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Individuals</a:t>
            </a: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of injury and mortality</a:t>
            </a: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independence</a:t>
            </a: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emergency response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5F0F9A50-5A9A-8CD4-8A5E-9732C53228BC}"/>
              </a:ext>
            </a:extLst>
          </p:cNvPr>
          <p:cNvGrpSpPr/>
          <p:nvPr/>
        </p:nvGrpSpPr>
        <p:grpSpPr>
          <a:xfrm>
            <a:off x="2203958" y="6250410"/>
            <a:ext cx="6406642" cy="3769890"/>
            <a:chOff x="0" y="0"/>
            <a:chExt cx="1427552" cy="69125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175755E-B4BC-7F4D-F026-CD34DFA3B97B}"/>
                </a:ext>
              </a:extLst>
            </p:cNvPr>
            <p:cNvSpPr/>
            <p:nvPr/>
          </p:nvSpPr>
          <p:spPr>
            <a:xfrm>
              <a:off x="0" y="0"/>
              <a:ext cx="1427552" cy="691253"/>
            </a:xfrm>
            <a:custGeom>
              <a:avLst/>
              <a:gdLst/>
              <a:ahLst/>
              <a:cxnLst/>
              <a:rect l="l" t="t" r="r" b="b"/>
              <a:pathLst>
                <a:path w="1427552" h="691253">
                  <a:moveTo>
                    <a:pt x="22884" y="0"/>
                  </a:moveTo>
                  <a:lnTo>
                    <a:pt x="1404667" y="0"/>
                  </a:lnTo>
                  <a:cubicBezTo>
                    <a:pt x="1410737" y="0"/>
                    <a:pt x="1416557" y="2411"/>
                    <a:pt x="1420849" y="6703"/>
                  </a:cubicBezTo>
                  <a:cubicBezTo>
                    <a:pt x="1425141" y="10994"/>
                    <a:pt x="1427552" y="16815"/>
                    <a:pt x="1427552" y="22884"/>
                  </a:cubicBezTo>
                  <a:lnTo>
                    <a:pt x="1427552" y="668368"/>
                  </a:lnTo>
                  <a:cubicBezTo>
                    <a:pt x="1427552" y="681007"/>
                    <a:pt x="1417306" y="691253"/>
                    <a:pt x="1404667" y="691253"/>
                  </a:cubicBezTo>
                  <a:lnTo>
                    <a:pt x="22884" y="691253"/>
                  </a:lnTo>
                  <a:cubicBezTo>
                    <a:pt x="16815" y="691253"/>
                    <a:pt x="10994" y="688842"/>
                    <a:pt x="6703" y="684550"/>
                  </a:cubicBezTo>
                  <a:cubicBezTo>
                    <a:pt x="2411" y="680258"/>
                    <a:pt x="0" y="674438"/>
                    <a:pt x="0" y="668368"/>
                  </a:cubicBezTo>
                  <a:lnTo>
                    <a:pt x="0" y="22884"/>
                  </a:lnTo>
                  <a:cubicBezTo>
                    <a:pt x="0" y="16815"/>
                    <a:pt x="2411" y="10994"/>
                    <a:pt x="6703" y="6703"/>
                  </a:cubicBezTo>
                  <a:cubicBezTo>
                    <a:pt x="10994" y="2411"/>
                    <a:pt x="16815" y="0"/>
                    <a:pt x="22884" y="0"/>
                  </a:cubicBez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51B7CAD0-F6B3-0F3C-3573-B7BF23118E75}"/>
                </a:ext>
              </a:extLst>
            </p:cNvPr>
            <p:cNvSpPr txBox="1"/>
            <p:nvPr/>
          </p:nvSpPr>
          <p:spPr>
            <a:xfrm>
              <a:off x="0" y="-47625"/>
              <a:ext cx="1427552" cy="73887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TextBox 18">
            <a:extLst>
              <a:ext uri="{FF2B5EF4-FFF2-40B4-BE49-F238E27FC236}">
                <a16:creationId xmlns:a16="http://schemas.microsoft.com/office/drawing/2014/main" id="{E36706E6-10C3-DF09-D7F5-2D8E9E9DECCB}"/>
              </a:ext>
            </a:extLst>
          </p:cNvPr>
          <p:cNvSpPr txBox="1"/>
          <p:nvPr/>
        </p:nvSpPr>
        <p:spPr>
          <a:xfrm>
            <a:off x="2688380" y="6681539"/>
            <a:ext cx="5501708" cy="324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Society </a:t>
            </a:r>
          </a:p>
          <a:p>
            <a:pPr>
              <a:lnSpc>
                <a:spcPts val="28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healthcare costs </a:t>
            </a: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pressure on emergency services </a:t>
            </a: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stress for families and caregivers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691392" y="2196079"/>
            <a:ext cx="9635144" cy="6705600"/>
            <a:chOff x="0" y="0"/>
            <a:chExt cx="866955" cy="81723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6955" cy="817233"/>
            </a:xfrm>
            <a:custGeom>
              <a:avLst/>
              <a:gdLst/>
              <a:ahLst/>
              <a:cxnLst/>
              <a:rect l="l" t="t" r="r" b="b"/>
              <a:pathLst>
                <a:path w="866955" h="817233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866955" cy="893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935200" y="1201673"/>
            <a:ext cx="3124200" cy="4216194"/>
          </a:xfrm>
          <a:custGeom>
            <a:avLst/>
            <a:gdLst/>
            <a:ahLst/>
            <a:cxnLst/>
            <a:rect l="l" t="t" r="r" b="b"/>
            <a:pathLst>
              <a:path w="5200105" h="5917616">
                <a:moveTo>
                  <a:pt x="0" y="0"/>
                </a:moveTo>
                <a:lnTo>
                  <a:pt x="5200106" y="0"/>
                </a:lnTo>
                <a:lnTo>
                  <a:pt x="5200106" y="5917616"/>
                </a:lnTo>
                <a:lnTo>
                  <a:pt x="0" y="591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962400" y="532013"/>
            <a:ext cx="13364135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and Limitations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57253" y="1716667"/>
            <a:ext cx="5534138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lvl="0">
              <a:lnSpc>
                <a:spcPts val="3360"/>
              </a:lnSpc>
              <a:spcBef>
                <a:spcPct val="0"/>
              </a:spcBef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3200" b="1" dirty="0"/>
              <a:t>:</a:t>
            </a:r>
          </a:p>
          <a:p>
            <a:pPr lvl="0">
              <a:lnSpc>
                <a:spcPts val="3360"/>
              </a:lnSpc>
              <a:spcBef>
                <a:spcPct val="0"/>
              </a:spcBef>
            </a:pPr>
            <a:endParaRPr lang="en-US" sz="3000" u="none" strike="noStrike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67578" y="3748728"/>
            <a:ext cx="8341660" cy="3706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>
              <a:lnSpc>
                <a:spcPts val="24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 rates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dependency for analysis 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health parameter monitoring 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emotional or neurological monitoring</a:t>
            </a:r>
          </a:p>
          <a:p>
            <a:pPr>
              <a:lnSpc>
                <a:spcPts val="24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for elderly users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66BC76AA-A648-F205-FA73-7C3BE2002928}"/>
              </a:ext>
            </a:extLst>
          </p:cNvPr>
          <p:cNvSpPr txBox="1"/>
          <p:nvPr/>
        </p:nvSpPr>
        <p:spPr>
          <a:xfrm>
            <a:off x="4769687" y="2985582"/>
            <a:ext cx="3291718" cy="134625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C907B9-A581-2C2B-B563-0101F46A367F}"/>
              </a:ext>
            </a:extLst>
          </p:cNvPr>
          <p:cNvSpPr/>
          <p:nvPr/>
        </p:nvSpPr>
        <p:spPr>
          <a:xfrm>
            <a:off x="2028898" y="3417439"/>
            <a:ext cx="4598773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8592A3-939F-5CBF-AD50-D4243B590D05}"/>
              </a:ext>
            </a:extLst>
          </p:cNvPr>
          <p:cNvSpPr/>
          <p:nvPr/>
        </p:nvSpPr>
        <p:spPr>
          <a:xfrm>
            <a:off x="2027396" y="4960667"/>
            <a:ext cx="4598773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C385DD-02E1-FBEC-4E13-686122513877}"/>
              </a:ext>
            </a:extLst>
          </p:cNvPr>
          <p:cNvSpPr/>
          <p:nvPr/>
        </p:nvSpPr>
        <p:spPr>
          <a:xfrm>
            <a:off x="2027396" y="6522330"/>
            <a:ext cx="4598773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F7FBBA-8147-F640-95C4-BC36813D164A}"/>
              </a:ext>
            </a:extLst>
          </p:cNvPr>
          <p:cNvSpPr txBox="1"/>
          <p:nvPr/>
        </p:nvSpPr>
        <p:spPr>
          <a:xfrm>
            <a:off x="2671940" y="3688624"/>
            <a:ext cx="22572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Watch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F9D506-697F-7FDB-0D0D-F78B40EFB6B1}"/>
              </a:ext>
            </a:extLst>
          </p:cNvPr>
          <p:cNvSpPr txBox="1"/>
          <p:nvPr/>
        </p:nvSpPr>
        <p:spPr>
          <a:xfrm>
            <a:off x="2667024" y="5188327"/>
            <a:ext cx="22572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Fitbit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5795E3-F4C5-F377-EC6E-F1D3C77BA89D}"/>
              </a:ext>
            </a:extLst>
          </p:cNvPr>
          <p:cNvSpPr txBox="1"/>
          <p:nvPr/>
        </p:nvSpPr>
        <p:spPr>
          <a:xfrm>
            <a:off x="2667024" y="6717920"/>
            <a:ext cx="337090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fall detectors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2815269">
            <a:off x="-2133316" y="7137429"/>
            <a:ext cx="5645112" cy="6811599"/>
          </a:xfrm>
          <a:custGeom>
            <a:avLst/>
            <a:gdLst/>
            <a:ahLst/>
            <a:cxnLst/>
            <a:rect l="l" t="t" r="r" b="b"/>
            <a:pathLst>
              <a:path w="5645112" h="6811599">
                <a:moveTo>
                  <a:pt x="0" y="0"/>
                </a:moveTo>
                <a:lnTo>
                  <a:pt x="5645113" y="0"/>
                </a:lnTo>
                <a:lnTo>
                  <a:pt x="5645113" y="6811599"/>
                </a:lnTo>
                <a:lnTo>
                  <a:pt x="0" y="681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671765" y="3965426"/>
            <a:ext cx="6735248" cy="3845147"/>
            <a:chOff x="0" y="0"/>
            <a:chExt cx="1800071" cy="8151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0071" cy="815144"/>
            </a:xfrm>
            <a:custGeom>
              <a:avLst/>
              <a:gdLst/>
              <a:ahLst/>
              <a:cxnLst/>
              <a:rect l="l" t="t" r="r" b="b"/>
              <a:pathLst>
                <a:path w="1800071" h="815144">
                  <a:moveTo>
                    <a:pt x="28319" y="0"/>
                  </a:moveTo>
                  <a:lnTo>
                    <a:pt x="1771752" y="0"/>
                  </a:lnTo>
                  <a:cubicBezTo>
                    <a:pt x="1787392" y="0"/>
                    <a:pt x="1800071" y="12679"/>
                    <a:pt x="1800071" y="28319"/>
                  </a:cubicBezTo>
                  <a:lnTo>
                    <a:pt x="1800071" y="786826"/>
                  </a:lnTo>
                  <a:cubicBezTo>
                    <a:pt x="1800071" y="794336"/>
                    <a:pt x="1797087" y="801539"/>
                    <a:pt x="1791776" y="806850"/>
                  </a:cubicBezTo>
                  <a:cubicBezTo>
                    <a:pt x="1786466" y="812161"/>
                    <a:pt x="1779263" y="815144"/>
                    <a:pt x="1771752" y="815144"/>
                  </a:cubicBezTo>
                  <a:lnTo>
                    <a:pt x="28319" y="815144"/>
                  </a:lnTo>
                  <a:cubicBezTo>
                    <a:pt x="20808" y="815144"/>
                    <a:pt x="13605" y="812161"/>
                    <a:pt x="8294" y="806850"/>
                  </a:cubicBezTo>
                  <a:cubicBezTo>
                    <a:pt x="2984" y="801539"/>
                    <a:pt x="0" y="794336"/>
                    <a:pt x="0" y="786826"/>
                  </a:cubicBezTo>
                  <a:lnTo>
                    <a:pt x="0" y="28319"/>
                  </a:lnTo>
                  <a:cubicBezTo>
                    <a:pt x="0" y="20808"/>
                    <a:pt x="2984" y="13605"/>
                    <a:pt x="8294" y="8294"/>
                  </a:cubicBezTo>
                  <a:cubicBezTo>
                    <a:pt x="13605" y="2984"/>
                    <a:pt x="20808" y="0"/>
                    <a:pt x="28319" y="0"/>
                  </a:cubicBezTo>
                  <a:close/>
                </a:path>
              </a:pathLst>
            </a:custGeom>
            <a:solidFill>
              <a:srgbClr val="E3D7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800071" cy="89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49431" y="7495602"/>
            <a:ext cx="1327891" cy="2418442"/>
          </a:xfrm>
          <a:custGeom>
            <a:avLst/>
            <a:gdLst/>
            <a:ahLst/>
            <a:cxnLst/>
            <a:rect l="l" t="t" r="r" b="b"/>
            <a:pathLst>
              <a:path w="1474836" h="2906080">
                <a:moveTo>
                  <a:pt x="0" y="0"/>
                </a:moveTo>
                <a:lnTo>
                  <a:pt x="1474836" y="0"/>
                </a:lnTo>
                <a:lnTo>
                  <a:pt x="1474836" y="2906080"/>
                </a:lnTo>
                <a:lnTo>
                  <a:pt x="0" y="290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" y="461022"/>
            <a:ext cx="182880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6000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876114" y="4889838"/>
            <a:ext cx="4839791" cy="251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/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data collection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Edge-based AI processing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anomaly detection</a:t>
            </a:r>
          </a:p>
          <a:p>
            <a:pPr algn="just">
              <a:lnSpc>
                <a:spcPts val="28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 alert generation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FF1D8-9A91-24F2-F6B9-E8B21AABCFFD}"/>
              </a:ext>
            </a:extLst>
          </p:cNvPr>
          <p:cNvSpPr txBox="1"/>
          <p:nvPr/>
        </p:nvSpPr>
        <p:spPr>
          <a:xfrm>
            <a:off x="1689908" y="1952051"/>
            <a:ext cx="841164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Multi-Sensor Health Monitoring Wearable </a:t>
            </a:r>
            <a:endParaRPr lang="en-US" sz="30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0EEC41-978A-0C43-3AB4-1C805195B3A1}"/>
              </a:ext>
            </a:extLst>
          </p:cNvPr>
          <p:cNvSpPr txBox="1"/>
          <p:nvPr/>
        </p:nvSpPr>
        <p:spPr>
          <a:xfrm>
            <a:off x="1671765" y="2796627"/>
            <a:ext cx="1365169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wearable system that monitors multiple physiological signals and detects health anomalies in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07606F-BEC4-680A-D18C-3E658EEC5205}"/>
              </a:ext>
            </a:extLst>
          </p:cNvPr>
          <p:cNvSpPr txBox="1"/>
          <p:nvPr/>
        </p:nvSpPr>
        <p:spPr>
          <a:xfrm>
            <a:off x="2480988" y="4131583"/>
            <a:ext cx="1128225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FD844592-DD58-853C-E60C-C88CAE841A75}"/>
              </a:ext>
            </a:extLst>
          </p:cNvPr>
          <p:cNvGrpSpPr/>
          <p:nvPr/>
        </p:nvGrpSpPr>
        <p:grpSpPr>
          <a:xfrm>
            <a:off x="9463455" y="3965426"/>
            <a:ext cx="6735248" cy="3845147"/>
            <a:chOff x="0" y="0"/>
            <a:chExt cx="1800071" cy="815144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449C8C77-3052-E86C-A779-530A4D1A6C3E}"/>
                </a:ext>
              </a:extLst>
            </p:cNvPr>
            <p:cNvSpPr/>
            <p:nvPr/>
          </p:nvSpPr>
          <p:spPr>
            <a:xfrm>
              <a:off x="0" y="0"/>
              <a:ext cx="1800071" cy="815144"/>
            </a:xfrm>
            <a:custGeom>
              <a:avLst/>
              <a:gdLst/>
              <a:ahLst/>
              <a:cxnLst/>
              <a:rect l="l" t="t" r="r" b="b"/>
              <a:pathLst>
                <a:path w="1800071" h="815144">
                  <a:moveTo>
                    <a:pt x="28319" y="0"/>
                  </a:moveTo>
                  <a:lnTo>
                    <a:pt x="1771752" y="0"/>
                  </a:lnTo>
                  <a:cubicBezTo>
                    <a:pt x="1787392" y="0"/>
                    <a:pt x="1800071" y="12679"/>
                    <a:pt x="1800071" y="28319"/>
                  </a:cubicBezTo>
                  <a:lnTo>
                    <a:pt x="1800071" y="786826"/>
                  </a:lnTo>
                  <a:cubicBezTo>
                    <a:pt x="1800071" y="794336"/>
                    <a:pt x="1797087" y="801539"/>
                    <a:pt x="1791776" y="806850"/>
                  </a:cubicBezTo>
                  <a:cubicBezTo>
                    <a:pt x="1786466" y="812161"/>
                    <a:pt x="1779263" y="815144"/>
                    <a:pt x="1771752" y="815144"/>
                  </a:cubicBezTo>
                  <a:lnTo>
                    <a:pt x="28319" y="815144"/>
                  </a:lnTo>
                  <a:cubicBezTo>
                    <a:pt x="20808" y="815144"/>
                    <a:pt x="13605" y="812161"/>
                    <a:pt x="8294" y="806850"/>
                  </a:cubicBezTo>
                  <a:cubicBezTo>
                    <a:pt x="2984" y="801539"/>
                    <a:pt x="0" y="794336"/>
                    <a:pt x="0" y="786826"/>
                  </a:cubicBezTo>
                  <a:lnTo>
                    <a:pt x="0" y="28319"/>
                  </a:lnTo>
                  <a:cubicBezTo>
                    <a:pt x="0" y="20808"/>
                    <a:pt x="2984" y="13605"/>
                    <a:pt x="8294" y="8294"/>
                  </a:cubicBezTo>
                  <a:cubicBezTo>
                    <a:pt x="13605" y="2984"/>
                    <a:pt x="20808" y="0"/>
                    <a:pt x="28319" y="0"/>
                  </a:cubicBezTo>
                  <a:close/>
                </a:path>
              </a:pathLst>
            </a:custGeom>
            <a:solidFill>
              <a:srgbClr val="E3D7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BA389DAC-0C11-70D4-422A-78AF12943781}"/>
                </a:ext>
              </a:extLst>
            </p:cNvPr>
            <p:cNvSpPr txBox="1"/>
            <p:nvPr/>
          </p:nvSpPr>
          <p:spPr>
            <a:xfrm>
              <a:off x="0" y="-76200"/>
              <a:ext cx="1800071" cy="89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7BAF4AD-D8A5-2420-24FF-1CA22367A99C}"/>
              </a:ext>
            </a:extLst>
          </p:cNvPr>
          <p:cNvSpPr txBox="1"/>
          <p:nvPr/>
        </p:nvSpPr>
        <p:spPr>
          <a:xfrm>
            <a:off x="10297886" y="4131583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69121C-5CEF-6984-6AF4-13D97A25B35C}"/>
              </a:ext>
            </a:extLst>
          </p:cNvPr>
          <p:cNvSpPr txBox="1"/>
          <p:nvPr/>
        </p:nvSpPr>
        <p:spPr>
          <a:xfrm>
            <a:off x="10297886" y="4775236"/>
            <a:ext cx="571500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/ SpO₂ Sensor (MAX30102)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 (MLX90614)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Sensor (MPU6050)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 Sensor (Stress Detection)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664051" y="7376674"/>
            <a:ext cx="2318217" cy="2735104"/>
          </a:xfrm>
          <a:custGeom>
            <a:avLst/>
            <a:gdLst/>
            <a:ahLst/>
            <a:cxnLst/>
            <a:rect l="l" t="t" r="r" b="b"/>
            <a:pathLst>
              <a:path w="2618862" h="2735104">
                <a:moveTo>
                  <a:pt x="0" y="0"/>
                </a:moveTo>
                <a:lnTo>
                  <a:pt x="2618862" y="0"/>
                </a:lnTo>
                <a:lnTo>
                  <a:pt x="2618862" y="2735104"/>
                </a:lnTo>
                <a:lnTo>
                  <a:pt x="0" y="273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870008" y="4271803"/>
            <a:ext cx="3215069" cy="3066372"/>
          </a:xfrm>
          <a:custGeom>
            <a:avLst/>
            <a:gdLst/>
            <a:ahLst/>
            <a:cxnLst/>
            <a:rect l="l" t="t" r="r" b="b"/>
            <a:pathLst>
              <a:path w="3215069" h="3066372">
                <a:moveTo>
                  <a:pt x="0" y="0"/>
                </a:moveTo>
                <a:lnTo>
                  <a:pt x="3215069" y="0"/>
                </a:lnTo>
                <a:lnTo>
                  <a:pt x="3215069" y="3066372"/>
                </a:lnTo>
                <a:lnTo>
                  <a:pt x="0" y="306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0" y="768957"/>
            <a:ext cx="182880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7975" y="2294531"/>
            <a:ext cx="5744794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 (Sensors)</a:t>
            </a:r>
            <a:endParaRPr lang="en-US" sz="3000" b="1" u="none" strike="noStrike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CA32B-14AA-0E14-B723-D07BC527F317}"/>
              </a:ext>
            </a:extLst>
          </p:cNvPr>
          <p:cNvSpPr txBox="1"/>
          <p:nvPr/>
        </p:nvSpPr>
        <p:spPr>
          <a:xfrm>
            <a:off x="1143000" y="3161713"/>
            <a:ext cx="5744794" cy="50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physiological and motion data:</a:t>
            </a:r>
            <a:endParaRPr lang="en-US" sz="2700" b="1" u="none" strike="noStrike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CB3B3677-A74A-68EE-63F3-94E287BE29E0}"/>
              </a:ext>
            </a:extLst>
          </p:cNvPr>
          <p:cNvSpPr/>
          <p:nvPr/>
        </p:nvSpPr>
        <p:spPr>
          <a:xfrm>
            <a:off x="1257975" y="4101034"/>
            <a:ext cx="4873501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rate </a:t>
            </a:r>
          </a:p>
          <a:p>
            <a:pPr marL="342900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Oxygen levels</a:t>
            </a:r>
          </a:p>
          <a:p>
            <a:pPr>
              <a:lnSpc>
                <a:spcPts val="24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temperature</a:t>
            </a:r>
          </a:p>
          <a:p>
            <a:pPr>
              <a:lnSpc>
                <a:spcPts val="24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 patterns</a:t>
            </a:r>
          </a:p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conductance 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06EAAA-98D4-6AC0-5067-50CE6B0495FE}"/>
              </a:ext>
            </a:extLst>
          </p:cNvPr>
          <p:cNvSpPr txBox="1"/>
          <p:nvPr/>
        </p:nvSpPr>
        <p:spPr>
          <a:xfrm>
            <a:off x="7011616" y="2251570"/>
            <a:ext cx="835096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</a:t>
            </a:r>
            <a:endParaRPr lang="en-US" sz="3000" b="1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DB941F-1219-0F31-C320-817D7C452014}"/>
              </a:ext>
            </a:extLst>
          </p:cNvPr>
          <p:cNvSpPr txBox="1"/>
          <p:nvPr/>
        </p:nvSpPr>
        <p:spPr>
          <a:xfrm>
            <a:off x="12256371" y="2251570"/>
            <a:ext cx="1619794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endParaRPr lang="en-US" sz="3000" b="1" u="none" strike="noStrike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56" name="Freeform 9">
            <a:extLst>
              <a:ext uri="{FF2B5EF4-FFF2-40B4-BE49-F238E27FC236}">
                <a16:creationId xmlns:a16="http://schemas.microsoft.com/office/drawing/2014/main" id="{0D854977-F62A-A673-54AF-18AC6A3A5E79}"/>
              </a:ext>
            </a:extLst>
          </p:cNvPr>
          <p:cNvSpPr/>
          <p:nvPr/>
        </p:nvSpPr>
        <p:spPr>
          <a:xfrm>
            <a:off x="7011616" y="4098281"/>
            <a:ext cx="4863756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ts val="24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 Microcontroller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</a:t>
            </a: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fusion analysis </a:t>
            </a: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Freeform 9">
            <a:extLst>
              <a:ext uri="{FF2B5EF4-FFF2-40B4-BE49-F238E27FC236}">
                <a16:creationId xmlns:a16="http://schemas.microsoft.com/office/drawing/2014/main" id="{C9762C5C-C4B0-C710-108C-75D030186767}"/>
              </a:ext>
            </a:extLst>
          </p:cNvPr>
          <p:cNvSpPr/>
          <p:nvPr/>
        </p:nvSpPr>
        <p:spPr>
          <a:xfrm>
            <a:off x="12256371" y="4098280"/>
            <a:ext cx="5021278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lvl="2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ts val="24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vibration alerts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application notifications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alert system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7DC7511-8949-9668-0FA1-C892B3A0A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923" y="7338175"/>
            <a:ext cx="3918591" cy="391859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7500986"/>
            <a:ext cx="18288000" cy="2786014"/>
            <a:chOff x="0" y="0"/>
            <a:chExt cx="4816593" cy="7337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733765"/>
            </a:xfrm>
            <a:custGeom>
              <a:avLst/>
              <a:gdLst/>
              <a:ahLst/>
              <a:cxnLst/>
              <a:rect l="l" t="t" r="r" b="b"/>
              <a:pathLst>
                <a:path w="4816592" h="733765">
                  <a:moveTo>
                    <a:pt x="0" y="0"/>
                  </a:moveTo>
                  <a:lnTo>
                    <a:pt x="4816592" y="0"/>
                  </a:lnTo>
                  <a:lnTo>
                    <a:pt x="4816592" y="733765"/>
                  </a:lnTo>
                  <a:lnTo>
                    <a:pt x="0" y="733765"/>
                  </a:lnTo>
                  <a:close/>
                </a:path>
              </a:pathLst>
            </a:custGeom>
            <a:solidFill>
              <a:srgbClr val="FFD9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816593" cy="809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91200" y="5630125"/>
            <a:ext cx="7391400" cy="4587028"/>
          </a:xfrm>
          <a:custGeom>
            <a:avLst/>
            <a:gdLst/>
            <a:ahLst/>
            <a:cxnLst/>
            <a:rect l="l" t="t" r="r" b="b"/>
            <a:pathLst>
              <a:path w="5852667" h="4587028">
                <a:moveTo>
                  <a:pt x="0" y="0"/>
                </a:moveTo>
                <a:lnTo>
                  <a:pt x="5852667" y="0"/>
                </a:lnTo>
                <a:lnTo>
                  <a:pt x="5852667" y="4587028"/>
                </a:lnTo>
                <a:lnTo>
                  <a:pt x="0" y="458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905000" y="988197"/>
            <a:ext cx="151638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Components (Team Contribution)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B37E006-4295-D136-AD76-D3D986C5F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400976"/>
              </p:ext>
            </p:extLst>
          </p:nvPr>
        </p:nvGraphicFramePr>
        <p:xfrm>
          <a:off x="3047998" y="2036616"/>
          <a:ext cx="11660442" cy="51565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32442">
                  <a:extLst>
                    <a:ext uri="{9D8B030D-6E8A-4147-A177-3AD203B41FA5}">
                      <a16:colId xmlns:a16="http://schemas.microsoft.com/office/drawing/2014/main" val="13620069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152233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97629580"/>
                    </a:ext>
                  </a:extLst>
                </a:gridCol>
              </a:tblGrid>
              <a:tr h="103130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</a:t>
                      </a:r>
                      <a:endParaRPr lang="en-US" sz="3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894601"/>
                  </a:ext>
                </a:extLst>
              </a:tr>
              <a:tr h="103130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Cardiovascular Anomaly Detection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Abeysinghe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abnormal heart rhythms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86652"/>
                  </a:ext>
                </a:extLst>
              </a:tr>
              <a:tr h="103130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Kinematic Fall Detection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Lakshan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falls and immobility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196139"/>
                  </a:ext>
                </a:extLst>
              </a:tr>
              <a:tr h="103130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 &amp; Thermal 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Dissanayaka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hypoxia and sepsis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993492"/>
                  </a:ext>
                </a:extLst>
              </a:tr>
              <a:tr h="103130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Neurological Stress Monitoring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Peshala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emotional stress and 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92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1178-6D89-DE34-17EF-CA7E714E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5CE5454-AA87-3202-6335-CE61D4E79E04}"/>
              </a:ext>
            </a:extLst>
          </p:cNvPr>
          <p:cNvSpPr txBox="1"/>
          <p:nvPr/>
        </p:nvSpPr>
        <p:spPr>
          <a:xfrm>
            <a:off x="2115456" y="7135521"/>
            <a:ext cx="13810343" cy="27705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real-time PPG signals using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sensor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preprocessing pipeline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noise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Convolutional Neural Network (1D-CNN)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MIT-BIH Arrhythmia dataset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optimized model on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ADBA9-B7E7-F569-8EBA-E2FF479FCF4F}"/>
              </a:ext>
            </a:extLst>
          </p:cNvPr>
          <p:cNvSpPr txBox="1"/>
          <p:nvPr/>
        </p:nvSpPr>
        <p:spPr>
          <a:xfrm>
            <a:off x="2133600" y="647700"/>
            <a:ext cx="14478000" cy="254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Anomaly Detection System</a:t>
            </a:r>
          </a:p>
          <a:p>
            <a:pPr>
              <a:lnSpc>
                <a:spcPts val="68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800"/>
              </a:lnSpc>
            </a:pPr>
            <a:endParaRPr lang="en-US" sz="18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19158-EA4F-8A37-4A9E-D2AB26052C24}"/>
              </a:ext>
            </a:extLst>
          </p:cNvPr>
          <p:cNvSpPr txBox="1"/>
          <p:nvPr/>
        </p:nvSpPr>
        <p:spPr>
          <a:xfrm>
            <a:off x="2155371" y="1766211"/>
            <a:ext cx="9753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IT22081148 | Abeysinghe S.A.M.M.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A0217-67BD-24EE-ED47-2279B0282DFC}"/>
              </a:ext>
            </a:extLst>
          </p:cNvPr>
          <p:cNvSpPr txBox="1"/>
          <p:nvPr/>
        </p:nvSpPr>
        <p:spPr>
          <a:xfrm>
            <a:off x="2155371" y="241502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6A346F-248C-B4F6-12ED-9B6CD0B130A4}"/>
              </a:ext>
            </a:extLst>
          </p:cNvPr>
          <p:cNvSpPr txBox="1"/>
          <p:nvPr/>
        </p:nvSpPr>
        <p:spPr>
          <a:xfrm>
            <a:off x="2115457" y="2969018"/>
            <a:ext cx="153307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are one of the leading causes of death among elderly individuals. Many wearable devices measure heart rate but cannot detect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heart rhythms (arrhythmia)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existing systems, data is sent to cloud servers for analysis, which introduces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latency, privacy risks, and dependency on internet connectivity</a:t>
            </a:r>
            <a:r>
              <a:rPr lang="en-US" sz="23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8E146-D6A5-92E1-EE42-000E65CD3E32}"/>
              </a:ext>
            </a:extLst>
          </p:cNvPr>
          <p:cNvSpPr txBox="1"/>
          <p:nvPr/>
        </p:nvSpPr>
        <p:spPr>
          <a:xfrm>
            <a:off x="2133600" y="4616761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4D5239-CD63-4FFE-193A-2C6A729D6E5C}"/>
              </a:ext>
            </a:extLst>
          </p:cNvPr>
          <p:cNvSpPr txBox="1"/>
          <p:nvPr/>
        </p:nvSpPr>
        <p:spPr>
          <a:xfrm>
            <a:off x="2075543" y="5259493"/>
            <a:ext cx="153307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privacy-centric cardiovascular anomaly detection system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Edge AI to detect abnormal heart rhythms directly on a wearable device.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AB7981-DBF8-C00D-CE78-D666E35EBABF}"/>
              </a:ext>
            </a:extLst>
          </p:cNvPr>
          <p:cNvSpPr txBox="1"/>
          <p:nvPr/>
        </p:nvSpPr>
        <p:spPr>
          <a:xfrm>
            <a:off x="2115456" y="6401194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63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A206B-B298-0636-C410-BBEB1424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5C5031-68CC-EC9C-7B0F-E6B824930ECF}"/>
              </a:ext>
            </a:extLst>
          </p:cNvPr>
          <p:cNvSpPr txBox="1"/>
          <p:nvPr/>
        </p:nvSpPr>
        <p:spPr>
          <a:xfrm>
            <a:off x="2155371" y="101847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E8CA59-38F6-E393-AC3A-DD5241D5AA9A}"/>
              </a:ext>
            </a:extLst>
          </p:cNvPr>
          <p:cNvSpPr txBox="1"/>
          <p:nvPr/>
        </p:nvSpPr>
        <p:spPr>
          <a:xfrm>
            <a:off x="2115457" y="1581954"/>
            <a:ext cx="1533071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arrhythmia detection on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wearable device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processing without cloud dependency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faster emergency response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7CF16-7557-1D06-40C0-A64180289A14}"/>
              </a:ext>
            </a:extLst>
          </p:cNvPr>
          <p:cNvSpPr txBox="1"/>
          <p:nvPr/>
        </p:nvSpPr>
        <p:spPr>
          <a:xfrm>
            <a:off x="2077356" y="3887729"/>
            <a:ext cx="154069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&amp; Domain Knowledge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C262E-0641-373D-2299-0D6682AD0F50}"/>
              </a:ext>
            </a:extLst>
          </p:cNvPr>
          <p:cNvSpPr txBox="1"/>
          <p:nvPr/>
        </p:nvSpPr>
        <p:spPr>
          <a:xfrm>
            <a:off x="2155371" y="515436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C318299-BB44-BC26-5661-18E3E5A0BFCC}"/>
              </a:ext>
            </a:extLst>
          </p:cNvPr>
          <p:cNvSpPr/>
          <p:nvPr/>
        </p:nvSpPr>
        <p:spPr>
          <a:xfrm>
            <a:off x="2286000" y="6210300"/>
            <a:ext cx="4873501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ctr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 marL="342900" lvl="0" indent="-342900" algn="ctr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ctr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PPG sensor</a:t>
            </a: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365BDDF9-1DA8-ED9B-55EE-C582A6BE3B95}"/>
              </a:ext>
            </a:extLst>
          </p:cNvPr>
          <p:cNvSpPr/>
          <p:nvPr/>
        </p:nvSpPr>
        <p:spPr>
          <a:xfrm>
            <a:off x="8077200" y="6210300"/>
            <a:ext cx="7772400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ctr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TensorFlow for model training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Micro for embedded inference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firmware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275496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5302B-7432-14A3-21F6-225743A4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6DDD6D4-F1CE-7FED-7595-09239C38265C}"/>
              </a:ext>
            </a:extLst>
          </p:cNvPr>
          <p:cNvSpPr txBox="1"/>
          <p:nvPr/>
        </p:nvSpPr>
        <p:spPr>
          <a:xfrm>
            <a:off x="2155371" y="80010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0A132-1B9D-D687-8790-BBA216EF64E6}"/>
              </a:ext>
            </a:extLst>
          </p:cNvPr>
          <p:cNvSpPr txBox="1"/>
          <p:nvPr/>
        </p:nvSpPr>
        <p:spPr>
          <a:xfrm>
            <a:off x="2438400" y="1485900"/>
            <a:ext cx="9144000" cy="863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Acquisition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PPG signals collected from MAX30102 sensor</a:t>
            </a:r>
          </a:p>
          <a:p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</a:t>
            </a:r>
          </a:p>
          <a:p>
            <a:pPr marL="457200" indent="-457200">
              <a:buFont typeface="+mj-lt"/>
              <a:buAutoNum type="arabicPeriod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artifact removal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marL="457200" indent="-457200">
              <a:buAutoNum type="arabicPeriod" startAt="3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1D-CNN trained using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MIT-BIH Arrhythmia dataset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4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Deployment</a:t>
            </a:r>
          </a:p>
          <a:p>
            <a:pPr marL="457200" indent="-457200">
              <a:buAutoNum type="arabicPeriod" startAt="4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quantization for ESP32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arrhythmia classification</a:t>
            </a:r>
          </a:p>
          <a:p>
            <a:pPr marL="457200" indent="-457200">
              <a:buAutoNum type="arabicPeriod" startAt="4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4D33E3-57C3-CD9C-69E8-93B8A7379A5F}"/>
              </a:ext>
            </a:extLst>
          </p:cNvPr>
          <p:cNvSpPr txBox="1"/>
          <p:nvPr/>
        </p:nvSpPr>
        <p:spPr>
          <a:xfrm>
            <a:off x="10203543" y="86972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B9FE5F-F599-3672-C08E-1321CEDBF385}"/>
              </a:ext>
            </a:extLst>
          </p:cNvPr>
          <p:cNvSpPr txBox="1"/>
          <p:nvPr/>
        </p:nvSpPr>
        <p:spPr>
          <a:xfrm>
            <a:off x="10203543" y="1555522"/>
            <a:ext cx="1020354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MIT-BIH Arrhythmia Database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Accuracy, Precision, Recall, and F1-score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testing with wearable sensor signals</a:t>
            </a:r>
          </a:p>
        </p:txBody>
      </p:sp>
    </p:spTree>
    <p:extLst>
      <p:ext uri="{BB962C8B-B14F-4D97-AF65-F5344CB8AC3E}">
        <p14:creationId xmlns:p14="http://schemas.microsoft.com/office/powerpoint/2010/main" val="3519324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6341B-9A0E-E1ED-1860-89EFCBAF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F78DD61-858A-8300-FCA8-28BB41D46BEB}"/>
              </a:ext>
            </a:extLst>
          </p:cNvPr>
          <p:cNvSpPr txBox="1"/>
          <p:nvPr/>
        </p:nvSpPr>
        <p:spPr>
          <a:xfrm>
            <a:off x="2002971" y="304919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5F661-26A6-77E8-56B7-2547B4BE78C4}"/>
              </a:ext>
            </a:extLst>
          </p:cNvPr>
          <p:cNvSpPr txBox="1"/>
          <p:nvPr/>
        </p:nvSpPr>
        <p:spPr>
          <a:xfrm>
            <a:off x="2002970" y="964559"/>
            <a:ext cx="1201783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cardiovascular monitoring module follows the pipeline: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PPG Sensor → Signal Processing → 1D-CNN Model → Heart Rhythm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CC674-269D-CB40-AF02-A7CD98B1DC0A}"/>
              </a:ext>
            </a:extLst>
          </p:cNvPr>
          <p:cNvSpPr txBox="1"/>
          <p:nvPr/>
        </p:nvSpPr>
        <p:spPr>
          <a:xfrm>
            <a:off x="1992085" y="2322467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758DB-3F58-AD78-7E2E-1252DFF4D5A8}"/>
              </a:ext>
            </a:extLst>
          </p:cNvPr>
          <p:cNvSpPr txBox="1"/>
          <p:nvPr/>
        </p:nvSpPr>
        <p:spPr>
          <a:xfrm>
            <a:off x="1984828" y="2982107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heart rhythm into: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EB3E90-7A16-AA01-A4BB-3AA66DB2C610}"/>
              </a:ext>
            </a:extLst>
          </p:cNvPr>
          <p:cNvSpPr txBox="1"/>
          <p:nvPr/>
        </p:nvSpPr>
        <p:spPr>
          <a:xfrm>
            <a:off x="2362200" y="3573028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heartbeat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cardiac anomaly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F2BE8-4CA7-31C6-3FEE-91524F11A785}"/>
              </a:ext>
            </a:extLst>
          </p:cNvPr>
          <p:cNvSpPr txBox="1"/>
          <p:nvPr/>
        </p:nvSpPr>
        <p:spPr>
          <a:xfrm>
            <a:off x="1984828" y="4488266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anomaly is detected: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3678F-F70D-53EC-EBE5-1829EF72FC55}"/>
              </a:ext>
            </a:extLst>
          </p:cNvPr>
          <p:cNvSpPr txBox="1"/>
          <p:nvPr/>
        </p:nvSpPr>
        <p:spPr>
          <a:xfrm>
            <a:off x="2362200" y="5080339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wearable device generates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alert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warning notification is sent to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D52FE-2BAE-0CA3-4181-C7E2C9851668}"/>
              </a:ext>
            </a:extLst>
          </p:cNvPr>
          <p:cNvSpPr txBox="1"/>
          <p:nvPr/>
        </p:nvSpPr>
        <p:spPr>
          <a:xfrm>
            <a:off x="2010228" y="598620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&amp; Integration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27A1F-B200-2BD1-EA77-9CAEBDBAA9D8}"/>
              </a:ext>
            </a:extLst>
          </p:cNvPr>
          <p:cNvSpPr txBox="1"/>
          <p:nvPr/>
        </p:nvSpPr>
        <p:spPr>
          <a:xfrm>
            <a:off x="1992085" y="6645840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works with other system components: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7F9F4-645A-CF66-8286-26AF916F034E}"/>
              </a:ext>
            </a:extLst>
          </p:cNvPr>
          <p:cNvSpPr txBox="1"/>
          <p:nvPr/>
        </p:nvSpPr>
        <p:spPr>
          <a:xfrm>
            <a:off x="2362200" y="7228536"/>
            <a:ext cx="9144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Detection Module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correlates heart rate with movement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Monitoring Module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HR with oxygen levels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Monitoring Module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analyzes HR with stress signals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BC61B-92B5-E916-DE3F-EEAF17BAEC50}"/>
              </a:ext>
            </a:extLst>
          </p:cNvPr>
          <p:cNvSpPr txBox="1"/>
          <p:nvPr/>
        </p:nvSpPr>
        <p:spPr>
          <a:xfrm>
            <a:off x="1984828" y="9322441"/>
            <a:ext cx="1521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module contributes to the overall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intelligent health monitoring system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43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CE37B-5E84-8150-04E8-491A2A31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ED7C98A-616A-06B1-6138-7D3CE425BD68}"/>
              </a:ext>
            </a:extLst>
          </p:cNvPr>
          <p:cNvSpPr txBox="1"/>
          <p:nvPr/>
        </p:nvSpPr>
        <p:spPr>
          <a:xfrm>
            <a:off x="2079170" y="7046275"/>
            <a:ext cx="9104086" cy="27705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6-axis IMU sensor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ESP32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real-time motion data at high frequency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fall detection algorithm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lightweight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decision-tree model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on-device detection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compared to traditional threshold systems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F817A-26ED-ACAE-CD76-4BDD476ADC0A}"/>
              </a:ext>
            </a:extLst>
          </p:cNvPr>
          <p:cNvSpPr txBox="1"/>
          <p:nvPr/>
        </p:nvSpPr>
        <p:spPr>
          <a:xfrm>
            <a:off x="2133600" y="647700"/>
            <a:ext cx="1554480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Fall &amp; Immobility Detection System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74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C9110-FAEA-4CB9-6A10-553179FA754F}"/>
              </a:ext>
            </a:extLst>
          </p:cNvPr>
          <p:cNvSpPr txBox="1"/>
          <p:nvPr/>
        </p:nvSpPr>
        <p:spPr>
          <a:xfrm>
            <a:off x="2155371" y="1766211"/>
            <a:ext cx="9753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IT22196156 | Lakshan N.K.T. </a:t>
            </a:r>
            <a:endParaRPr kumimoji="0" lang="en-US" sz="3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0EE88-A36F-1FC8-545D-016FAF41309E}"/>
              </a:ext>
            </a:extLst>
          </p:cNvPr>
          <p:cNvSpPr txBox="1"/>
          <p:nvPr/>
        </p:nvSpPr>
        <p:spPr>
          <a:xfrm>
            <a:off x="2155371" y="2528546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Definition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7205E-EA90-19F0-4BAC-451DCC546CD7}"/>
              </a:ext>
            </a:extLst>
          </p:cNvPr>
          <p:cNvSpPr txBox="1"/>
          <p:nvPr/>
        </p:nvSpPr>
        <p:spPr>
          <a:xfrm>
            <a:off x="2115457" y="3092028"/>
            <a:ext cx="153307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Falls are one of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causes of injury and hospitalization among elderly individuals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Many wearable fall detection systems generate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alarms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daily activities such as sitting quickly, clapping, or dropping objects.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false alarms cause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fatigue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users to disable the device and reducing its effectiveness.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9ACF6-A5E4-A67C-1EA4-03A24D8B4E6F}"/>
              </a:ext>
            </a:extLst>
          </p:cNvPr>
          <p:cNvSpPr txBox="1"/>
          <p:nvPr/>
        </p:nvSpPr>
        <p:spPr>
          <a:xfrm>
            <a:off x="2133600" y="4678266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E58AB9-5281-0908-31A9-FF212D04F46A}"/>
              </a:ext>
            </a:extLst>
          </p:cNvPr>
          <p:cNvSpPr txBox="1"/>
          <p:nvPr/>
        </p:nvSpPr>
        <p:spPr>
          <a:xfrm>
            <a:off x="2079170" y="5310397"/>
            <a:ext cx="1582782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fall detection system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motion sensors and edge-based algorithms that can distinguish real falls from normal daily activities.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924-7AC1-0DC8-E13C-DA20EBC597E4}"/>
              </a:ext>
            </a:extLst>
          </p:cNvPr>
          <p:cNvSpPr txBox="1"/>
          <p:nvPr/>
        </p:nvSpPr>
        <p:spPr>
          <a:xfrm>
            <a:off x="2129971" y="6188749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Specific Objectives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114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D553D-3281-340C-00D5-A27A0C59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FDA149A-B7E1-3E8B-E7F6-6C8D892CFB72}"/>
              </a:ext>
            </a:extLst>
          </p:cNvPr>
          <p:cNvSpPr txBox="1"/>
          <p:nvPr/>
        </p:nvSpPr>
        <p:spPr>
          <a:xfrm>
            <a:off x="2119086" y="604156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EB6E7-5AA3-9239-CFB0-BDDBCF096C58}"/>
              </a:ext>
            </a:extLst>
          </p:cNvPr>
          <p:cNvSpPr txBox="1"/>
          <p:nvPr/>
        </p:nvSpPr>
        <p:spPr>
          <a:xfrm>
            <a:off x="2086429" y="1300035"/>
            <a:ext cx="15330714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verification fall detection system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decision logic running on ESP32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false alarms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without cloud processing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02FBC-FE21-CCB7-288F-ADFF039788B2}"/>
              </a:ext>
            </a:extLst>
          </p:cNvPr>
          <p:cNvSpPr txBox="1"/>
          <p:nvPr/>
        </p:nvSpPr>
        <p:spPr>
          <a:xfrm>
            <a:off x="2086429" y="4227293"/>
            <a:ext cx="154069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&amp; Domain Knowledge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7B63C-DB8F-4289-BC1C-63CDCBA3BE60}"/>
              </a:ext>
            </a:extLst>
          </p:cNvPr>
          <p:cNvSpPr txBox="1"/>
          <p:nvPr/>
        </p:nvSpPr>
        <p:spPr>
          <a:xfrm>
            <a:off x="2119086" y="5384837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2BA48A3-C84D-5890-1F9F-6AA389DA6031}"/>
              </a:ext>
            </a:extLst>
          </p:cNvPr>
          <p:cNvSpPr/>
          <p:nvPr/>
        </p:nvSpPr>
        <p:spPr>
          <a:xfrm>
            <a:off x="2286000" y="6210300"/>
            <a:ext cx="4873501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Inertial Measurement Unit (IMU)</a:t>
            </a: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BFEE9E73-9904-CD88-5B50-9D1ADEDFA762}"/>
              </a:ext>
            </a:extLst>
          </p:cNvPr>
          <p:cNvSpPr/>
          <p:nvPr/>
        </p:nvSpPr>
        <p:spPr>
          <a:xfrm>
            <a:off x="8077200" y="6210300"/>
            <a:ext cx="7772400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ctr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Framework /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dataset processing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for embedded algorithm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26391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A6065-1C35-F007-8022-B878F00D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02E485E-3591-27D6-148A-FD049A164288}"/>
              </a:ext>
            </a:extLst>
          </p:cNvPr>
          <p:cNvSpPr txBox="1"/>
          <p:nvPr/>
        </p:nvSpPr>
        <p:spPr>
          <a:xfrm>
            <a:off x="1484086" y="801841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2F3E5-CD1F-B6D6-E6F1-1A4383E726F5}"/>
              </a:ext>
            </a:extLst>
          </p:cNvPr>
          <p:cNvSpPr txBox="1"/>
          <p:nvPr/>
        </p:nvSpPr>
        <p:spPr>
          <a:xfrm>
            <a:off x="1447800" y="1683395"/>
            <a:ext cx="914400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Motion Data Acquisition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6-axis motion data collected from accelerometer and gyroscope</a:t>
            </a:r>
          </a:p>
          <a:p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Resultant Vector Magnitude (RVM)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Magnitude Area (SMA)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angles (pitch and roll)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Two-Stage Fall Detection Algorithm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Stage 1 – Impact Detection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sudden acceleration spikes</a:t>
            </a:r>
          </a:p>
          <a:p>
            <a:pPr lvl="0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Stage 2 – Orientation Verification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user remains in horizontal position after impact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FF128-C0CE-C3B6-E91D-DAE4DACB94AC}"/>
              </a:ext>
            </a:extLst>
          </p:cNvPr>
          <p:cNvSpPr txBox="1"/>
          <p:nvPr/>
        </p:nvSpPr>
        <p:spPr>
          <a:xfrm>
            <a:off x="10203543" y="86972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00D345-0DC5-F611-BA3A-F2ABA8A7C986}"/>
              </a:ext>
            </a:extLst>
          </p:cNvPr>
          <p:cNvSpPr txBox="1"/>
          <p:nvPr/>
        </p:nvSpPr>
        <p:spPr>
          <a:xfrm>
            <a:off x="10203543" y="1555522"/>
            <a:ext cx="1020354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datasets: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SisFall and Kfall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using sensitivity and false alarm rate</a:t>
            </a:r>
          </a:p>
        </p:txBody>
      </p:sp>
    </p:spTree>
    <p:extLst>
      <p:ext uri="{BB962C8B-B14F-4D97-AF65-F5344CB8AC3E}">
        <p14:creationId xmlns:p14="http://schemas.microsoft.com/office/powerpoint/2010/main" val="2556757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ADBD8-C149-5EDE-6933-89209530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7EFA2B7-EB46-E131-BCB5-FB4CFB320802}"/>
              </a:ext>
            </a:extLst>
          </p:cNvPr>
          <p:cNvSpPr txBox="1"/>
          <p:nvPr/>
        </p:nvSpPr>
        <p:spPr>
          <a:xfrm>
            <a:off x="2002971" y="304919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50D37-87B8-A4C6-A2B9-3C4FD9B4FB52}"/>
              </a:ext>
            </a:extLst>
          </p:cNvPr>
          <p:cNvSpPr txBox="1"/>
          <p:nvPr/>
        </p:nvSpPr>
        <p:spPr>
          <a:xfrm>
            <a:off x="1984828" y="685481"/>
            <a:ext cx="138466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Motion Sensor → Motion Feature Extraction → Decision Tree Algorithm → Fall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53B07-3B24-252E-D4E3-54879F9EF7F5}"/>
              </a:ext>
            </a:extLst>
          </p:cNvPr>
          <p:cNvSpPr txBox="1"/>
          <p:nvPr/>
        </p:nvSpPr>
        <p:spPr>
          <a:xfrm>
            <a:off x="2006599" y="1774745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Process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CE34B-80B4-68E7-AAA1-ECDCFF67C058}"/>
              </a:ext>
            </a:extLst>
          </p:cNvPr>
          <p:cNvSpPr txBox="1"/>
          <p:nvPr/>
        </p:nvSpPr>
        <p:spPr>
          <a:xfrm>
            <a:off x="1984828" y="2556114"/>
            <a:ext cx="9144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high-impact acceleration spike</a:t>
            </a:r>
          </a:p>
          <a:p>
            <a:pPr marL="457200" lvl="0" indent="-457200">
              <a:buFont typeface="+mj-lt"/>
              <a:buAutoNum type="arabicPeriod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orientation and immobility</a:t>
            </a:r>
          </a:p>
          <a:p>
            <a:pPr marL="457200" lvl="0" indent="-457200">
              <a:buFont typeface="+mj-lt"/>
              <a:buAutoNum type="arabicPeriod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fall event before triggering alert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9147F-FCA7-70D5-0B69-8162E003CEF8}"/>
              </a:ext>
            </a:extLst>
          </p:cNvPr>
          <p:cNvSpPr txBox="1"/>
          <p:nvPr/>
        </p:nvSpPr>
        <p:spPr>
          <a:xfrm>
            <a:off x="2002971" y="4921269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7DDF8-EEE7-ECC8-5244-B53E8E92B996}"/>
              </a:ext>
            </a:extLst>
          </p:cNvPr>
          <p:cNvSpPr txBox="1"/>
          <p:nvPr/>
        </p:nvSpPr>
        <p:spPr>
          <a:xfrm>
            <a:off x="1984828" y="5580909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fall is detected: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A7763-4335-72D7-628D-575CF108E71C}"/>
              </a:ext>
            </a:extLst>
          </p:cNvPr>
          <p:cNvSpPr txBox="1"/>
          <p:nvPr/>
        </p:nvSpPr>
        <p:spPr>
          <a:xfrm>
            <a:off x="2354943" y="6163605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triggers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alert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notification sent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Caregivers receive real-time alert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350B84-CA6C-ACCB-BA22-D9481EDA3B1F}"/>
              </a:ext>
            </a:extLst>
          </p:cNvPr>
          <p:cNvSpPr txBox="1"/>
          <p:nvPr/>
        </p:nvSpPr>
        <p:spPr>
          <a:xfrm>
            <a:off x="1977571" y="8257510"/>
            <a:ext cx="1521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module contributes to the overall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intelligent health monitoring system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1126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22E52-1CD0-341B-F95E-8A3DD776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238198-DFEC-312B-8BFB-F86B1C3C7176}"/>
              </a:ext>
            </a:extLst>
          </p:cNvPr>
          <p:cNvSpPr txBox="1"/>
          <p:nvPr/>
        </p:nvSpPr>
        <p:spPr>
          <a:xfrm>
            <a:off x="2053772" y="1006674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Full System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B79E1-667D-BD55-8939-735888BCD481}"/>
              </a:ext>
            </a:extLst>
          </p:cNvPr>
          <p:cNvSpPr txBox="1"/>
          <p:nvPr/>
        </p:nvSpPr>
        <p:spPr>
          <a:xfrm>
            <a:off x="2035629" y="1387236"/>
            <a:ext cx="138466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context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entire wearable 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88767-1047-150A-EB00-F254ABA49BB9}"/>
              </a:ext>
            </a:extLst>
          </p:cNvPr>
          <p:cNvSpPr txBox="1"/>
          <p:nvPr/>
        </p:nvSpPr>
        <p:spPr>
          <a:xfrm>
            <a:off x="2057400" y="2476500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integration: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0AC59-555F-0452-0F06-94033B5D3497}"/>
              </a:ext>
            </a:extLst>
          </p:cNvPr>
          <p:cNvSpPr txBox="1"/>
          <p:nvPr/>
        </p:nvSpPr>
        <p:spPr>
          <a:xfrm>
            <a:off x="2035629" y="3257869"/>
            <a:ext cx="9144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detected + abnormal heart rate → emergency situation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motion + high heart rate → normal physical activity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+ immobility → critical alert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48028-644D-F422-9940-E84800188453}"/>
              </a:ext>
            </a:extLst>
          </p:cNvPr>
          <p:cNvSpPr txBox="1"/>
          <p:nvPr/>
        </p:nvSpPr>
        <p:spPr>
          <a:xfrm>
            <a:off x="2053772" y="5913332"/>
            <a:ext cx="132624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improves the reliability of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intelligent health monitoring system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809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CCB0F-0996-F6EF-1EDC-2D6199DF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EF0CC2-9879-AF07-1521-8374F0238202}"/>
              </a:ext>
            </a:extLst>
          </p:cNvPr>
          <p:cNvSpPr txBox="1"/>
          <p:nvPr/>
        </p:nvSpPr>
        <p:spPr>
          <a:xfrm>
            <a:off x="2133600" y="647700"/>
            <a:ext cx="15544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&amp; Thermal Warning System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D8045-1BDB-627E-8272-A00D63814D92}"/>
              </a:ext>
            </a:extLst>
          </p:cNvPr>
          <p:cNvSpPr txBox="1"/>
          <p:nvPr/>
        </p:nvSpPr>
        <p:spPr>
          <a:xfrm>
            <a:off x="2155371" y="1766211"/>
            <a:ext cx="9753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IT22291196 | Dissanayaka D.M.S.K. </a:t>
            </a:r>
            <a:endParaRPr kumimoji="0" lang="en-US" sz="3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E66D1-8450-9166-3547-19D0E2F3E721}"/>
              </a:ext>
            </a:extLst>
          </p:cNvPr>
          <p:cNvSpPr txBox="1"/>
          <p:nvPr/>
        </p:nvSpPr>
        <p:spPr>
          <a:xfrm>
            <a:off x="2155371" y="2528546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Definition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3BA05-A077-A546-5D81-4595BFA6D0B7}"/>
              </a:ext>
            </a:extLst>
          </p:cNvPr>
          <p:cNvSpPr txBox="1"/>
          <p:nvPr/>
        </p:nvSpPr>
        <p:spPr>
          <a:xfrm>
            <a:off x="2115457" y="3092028"/>
            <a:ext cx="1533071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individuals often experience serious health conditions such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silent hypoxia and sepsis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vital signs deteriorate before symptoms become noticeable.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rely 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threshold values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example SpO₂ below 90%), which can cause frequent false alarms or miss early warning signs.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delay between physiological deterioration and symptom awareness creates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gap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home healthcare monitoring.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7A8BFC-195C-776E-4550-82C77F253001}"/>
              </a:ext>
            </a:extLst>
          </p:cNvPr>
          <p:cNvSpPr txBox="1"/>
          <p:nvPr/>
        </p:nvSpPr>
        <p:spPr>
          <a:xfrm>
            <a:off x="2155371" y="6293303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6065A-4CD9-1A77-A2F4-276B4235ED36}"/>
              </a:ext>
            </a:extLst>
          </p:cNvPr>
          <p:cNvSpPr txBox="1"/>
          <p:nvPr/>
        </p:nvSpPr>
        <p:spPr>
          <a:xfrm>
            <a:off x="2133600" y="7124700"/>
            <a:ext cx="1582782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respiratory and thermal monitoring system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detecting early signs of physiological deterioration using multi-sensor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955653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4537E-08E5-9287-E0E6-342DF130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25F7839-CFAA-8187-F45B-C0A7D6C9130A}"/>
              </a:ext>
            </a:extLst>
          </p:cNvPr>
          <p:cNvSpPr txBox="1"/>
          <p:nvPr/>
        </p:nvSpPr>
        <p:spPr>
          <a:xfrm>
            <a:off x="1527629" y="1485900"/>
            <a:ext cx="10740572" cy="350520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pulse oximeter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SpO₂ and heart rate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MLX90614 infrared sensor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body temperature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anomaly detection algorithm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personalized health baseline detection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algorithm on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for real-time monitoring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4E923-B599-42A6-5193-83AD48541E47}"/>
              </a:ext>
            </a:extLst>
          </p:cNvPr>
          <p:cNvSpPr txBox="1"/>
          <p:nvPr/>
        </p:nvSpPr>
        <p:spPr>
          <a:xfrm>
            <a:off x="1527628" y="57993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ACD27-92A3-57F8-4757-79B503A6AD6D}"/>
              </a:ext>
            </a:extLst>
          </p:cNvPr>
          <p:cNvSpPr txBox="1"/>
          <p:nvPr/>
        </p:nvSpPr>
        <p:spPr>
          <a:xfrm>
            <a:off x="1527629" y="567690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1C5690-4239-737B-54DD-A369E83FF80F}"/>
              </a:ext>
            </a:extLst>
          </p:cNvPr>
          <p:cNvSpPr txBox="1"/>
          <p:nvPr/>
        </p:nvSpPr>
        <p:spPr>
          <a:xfrm>
            <a:off x="1527628" y="6559284"/>
            <a:ext cx="1119777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vital sign correlation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single-threshold detection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physiological baseline (Homeostasis Zone)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anomaly detection using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machine learning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48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CB9F7-D52C-786A-C681-5BC0B40C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EEC0B6-F89F-A078-A3BE-36C2E537210A}"/>
              </a:ext>
            </a:extLst>
          </p:cNvPr>
          <p:cNvSpPr txBox="1"/>
          <p:nvPr/>
        </p:nvSpPr>
        <p:spPr>
          <a:xfrm>
            <a:off x="1556657" y="464331"/>
            <a:ext cx="15769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&amp; Domain Knowledge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01D98-42B0-1124-A644-880F27A9CEC9}"/>
              </a:ext>
            </a:extLst>
          </p:cNvPr>
          <p:cNvSpPr txBox="1"/>
          <p:nvPr/>
        </p:nvSpPr>
        <p:spPr>
          <a:xfrm>
            <a:off x="1556657" y="1645068"/>
            <a:ext cx="57113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9">
            <a:extLst>
              <a:ext uri="{FF2B5EF4-FFF2-40B4-BE49-F238E27FC236}">
                <a16:creationId xmlns:a16="http://schemas.microsoft.com/office/drawing/2014/main" id="{70C4409E-CFCF-8961-3D89-08832AF92614}"/>
              </a:ext>
            </a:extLst>
          </p:cNvPr>
          <p:cNvSpPr/>
          <p:nvPr/>
        </p:nvSpPr>
        <p:spPr>
          <a:xfrm>
            <a:off x="1618343" y="2456488"/>
            <a:ext cx="6934200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pulse oximeter sensor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MLX90614 infrared temperature sensor</a:t>
            </a: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A2C0B275-8968-771B-6F60-13AB2BF23DA3}"/>
              </a:ext>
            </a:extLst>
          </p:cNvPr>
          <p:cNvSpPr/>
          <p:nvPr/>
        </p:nvSpPr>
        <p:spPr>
          <a:xfrm>
            <a:off x="8962571" y="2436531"/>
            <a:ext cx="8048171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ctr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(Scikit-learn) for model development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/ C++ for embedded system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0782E-AFDE-45FD-EAFA-A9623D739093}"/>
              </a:ext>
            </a:extLst>
          </p:cNvPr>
          <p:cNvSpPr txBox="1"/>
          <p:nvPr/>
        </p:nvSpPr>
        <p:spPr>
          <a:xfrm>
            <a:off x="1600200" y="6113684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1C4E2-C14D-500F-1FB2-FCB5A30B9AE6}"/>
              </a:ext>
            </a:extLst>
          </p:cNvPr>
          <p:cNvSpPr txBox="1"/>
          <p:nvPr/>
        </p:nvSpPr>
        <p:spPr>
          <a:xfrm>
            <a:off x="1600200" y="6832756"/>
            <a:ext cx="10668000" cy="3160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physiological signals including SpO₂, heart rate, and skin temperature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 Preprocessing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calibration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5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523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EA292-F56E-9D68-131E-0CBF0711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4CDD7F-91FB-D670-10E6-A7360770B587}"/>
              </a:ext>
            </a:extLst>
          </p:cNvPr>
          <p:cNvSpPr txBox="1"/>
          <p:nvPr/>
        </p:nvSpPr>
        <p:spPr>
          <a:xfrm>
            <a:off x="1524000" y="723900"/>
            <a:ext cx="9144000" cy="247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Unsupervised Machine Learning</a:t>
            </a:r>
            <a:endParaRPr lang="en-US" sz="25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establish a personalized vital sign baseline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Anomaly Detection</a:t>
            </a:r>
            <a:endParaRPr lang="en-US" sz="25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Measure deviation from baseline using Euclidean distance</a:t>
            </a:r>
            <a:endParaRPr lang="en-US" sz="23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B1AC9-936F-FE7E-BBFC-866D8DB445AF}"/>
              </a:ext>
            </a:extLst>
          </p:cNvPr>
          <p:cNvSpPr txBox="1"/>
          <p:nvPr/>
        </p:nvSpPr>
        <p:spPr>
          <a:xfrm>
            <a:off x="1524000" y="3617495"/>
            <a:ext cx="9753600" cy="167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Validation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Clinical dataset reference: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MIMIC-III dataset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evaluated using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and anomaly detection rate</a:t>
            </a:r>
            <a:endParaRPr lang="en-US" sz="25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3DA2A-5023-24D6-9F27-8A3E2E801ACF}"/>
              </a:ext>
            </a:extLst>
          </p:cNvPr>
          <p:cNvSpPr txBox="1"/>
          <p:nvPr/>
        </p:nvSpPr>
        <p:spPr>
          <a:xfrm>
            <a:off x="1553029" y="5715488"/>
            <a:ext cx="14478000" cy="114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System Workflow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Temperature Sensor + SpO₂ Sensor → Data Processing → K-Means Algorithm → Health Status Classification</a:t>
            </a:r>
            <a:endParaRPr lang="en-US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C49DA-9819-AD13-2B86-3982E94110B8}"/>
              </a:ext>
            </a:extLst>
          </p:cNvPr>
          <p:cNvSpPr txBox="1"/>
          <p:nvPr/>
        </p:nvSpPr>
        <p:spPr>
          <a:xfrm>
            <a:off x="1524000" y="7200900"/>
            <a:ext cx="9144000" cy="2674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Detection Capabilities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The </a:t>
            </a:r>
            <a:r>
              <a:rPr lang="en-US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system</a:t>
            </a:r>
            <a:r>
              <a:rPr lang="en-US" sz="2500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can</a:t>
            </a:r>
            <a:r>
              <a:rPr lang="en-US" sz="2500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 detect early warning signs of</a:t>
            </a: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 :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Silent hypoxia</a:t>
            </a: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 (low oxygen levels)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Early-stage infection or sepsis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Respiratory deterioration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84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D1812-9E3D-F2C9-CA59-95E72DAE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86FC00-8B28-52D5-2459-9C3DF9809975}"/>
              </a:ext>
            </a:extLst>
          </p:cNvPr>
          <p:cNvSpPr txBox="1"/>
          <p:nvPr/>
        </p:nvSpPr>
        <p:spPr>
          <a:xfrm>
            <a:off x="1752600" y="876300"/>
            <a:ext cx="9144000" cy="216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Alert Mechanism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When abnormal patterns are detected:</a:t>
            </a:r>
            <a:r>
              <a:rPr lang="en-US" sz="2500" kern="100" dirty="0">
                <a:latin typeface="Aptos" panose="020B000402020202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Wearable device triggers </a:t>
            </a: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vibration alert</a:t>
            </a:r>
            <a:endParaRPr lang="en-US" sz="2300" b="1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Notification sent to </a:t>
            </a:r>
            <a:r>
              <a:rPr lang="en-US" sz="2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mobile caregiver application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50A6F-5F27-CE40-F123-BDCA2063EB9E}"/>
              </a:ext>
            </a:extLst>
          </p:cNvPr>
          <p:cNvSpPr txBox="1"/>
          <p:nvPr/>
        </p:nvSpPr>
        <p:spPr>
          <a:xfrm>
            <a:off x="1748971" y="3748967"/>
            <a:ext cx="10591800" cy="3201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Integration with Full System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This module contributes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vital sign monitoring</a:t>
            </a: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 to the overall wearable system.</a:t>
            </a:r>
            <a:endParaRPr lang="en-US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Examples of integration:</a:t>
            </a:r>
            <a:endParaRPr lang="en-US" sz="2400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Temperature increase + elevated heart rate → infection risk</a:t>
            </a:r>
            <a:endParaRPr lang="en-US" sz="2300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Low SpO₂ + immobility → respiratory emergency</a:t>
            </a:r>
            <a:endParaRPr lang="en-US" sz="2300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Stress signals + abnormal vitals → potential health deterioration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6912F-5120-5A3E-3DAB-6B9229D23E0A}"/>
              </a:ext>
            </a:extLst>
          </p:cNvPr>
          <p:cNvSpPr txBox="1"/>
          <p:nvPr/>
        </p:nvSpPr>
        <p:spPr>
          <a:xfrm>
            <a:off x="1748971" y="7658584"/>
            <a:ext cx="14173200" cy="50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This module enhances the system’s ability to perform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predictive health monitoring for elderly individuals</a:t>
            </a: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.</a:t>
            </a:r>
            <a:endParaRPr lang="en-US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18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127C1-DC5E-5F26-02D2-8181FF47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63DA510-BF08-A344-784C-555837ABB57C}"/>
              </a:ext>
            </a:extLst>
          </p:cNvPr>
          <p:cNvSpPr txBox="1"/>
          <p:nvPr/>
        </p:nvSpPr>
        <p:spPr>
          <a:xfrm>
            <a:off x="1600200" y="8274000"/>
            <a:ext cx="9753600" cy="27705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Skin Response (GSR)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emotional arousal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Electrodermal Activity (EDA) signals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model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WESAD dataset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/>
          </a:p>
          <a:p>
            <a:pPr lvl="0"/>
            <a:endParaRPr lang="en-US" sz="23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300" dirty="0"/>
          </a:p>
          <a:p>
            <a:pPr lvl="0"/>
            <a:endParaRPr lang="en-US" sz="2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A50D4-9EE5-878E-6BD7-859E315AB814}"/>
              </a:ext>
            </a:extLst>
          </p:cNvPr>
          <p:cNvSpPr txBox="1"/>
          <p:nvPr/>
        </p:nvSpPr>
        <p:spPr>
          <a:xfrm>
            <a:off x="1600200" y="627732"/>
            <a:ext cx="15925800" cy="259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Neurological Stress &amp; Pain Monitoring System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8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800"/>
              </a:lnSpc>
            </a:pPr>
            <a:endParaRPr lang="en-US" sz="18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75FD0-2E7D-9047-7D03-2D74B0725291}"/>
              </a:ext>
            </a:extLst>
          </p:cNvPr>
          <p:cNvSpPr txBox="1"/>
          <p:nvPr/>
        </p:nvSpPr>
        <p:spPr>
          <a:xfrm>
            <a:off x="1600200" y="1746836"/>
            <a:ext cx="9753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IT22146410 | Peshala E.A.P.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F5CE5-3F47-FC09-8AEC-D94B2AFA3A67}"/>
              </a:ext>
            </a:extLst>
          </p:cNvPr>
          <p:cNvSpPr txBox="1"/>
          <p:nvPr/>
        </p:nvSpPr>
        <p:spPr>
          <a:xfrm>
            <a:off x="1600200" y="2482739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9F837-27B7-F41A-F59E-6575BCA09E3B}"/>
              </a:ext>
            </a:extLst>
          </p:cNvPr>
          <p:cNvSpPr txBox="1"/>
          <p:nvPr/>
        </p:nvSpPr>
        <p:spPr>
          <a:xfrm>
            <a:off x="1600200" y="3069017"/>
            <a:ext cx="153307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elderly patients, especially those with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dementia, Alzheimer’s disease, or stroke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lose the ability to verbally communicate their pain or emotional distress. As a result, caregivers often rely 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 observation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lead to delayed treatment and reduced quality of care.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wearable devices mainly monitor physical parameters such as heart rate and step count but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detect emotional stress or internal pain conditions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8E92F-526C-6BF8-F5B1-4D247A3B5D03}"/>
              </a:ext>
            </a:extLst>
          </p:cNvPr>
          <p:cNvSpPr txBox="1"/>
          <p:nvPr/>
        </p:nvSpPr>
        <p:spPr>
          <a:xfrm>
            <a:off x="1600200" y="5501608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3CDB4F-76BB-9493-B402-BC8F320E43DB}"/>
              </a:ext>
            </a:extLst>
          </p:cNvPr>
          <p:cNvSpPr txBox="1"/>
          <p:nvPr/>
        </p:nvSpPr>
        <p:spPr>
          <a:xfrm>
            <a:off x="1600200" y="6270666"/>
            <a:ext cx="153307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Neurological Stress and Pain Monitoring system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emotional distress in elderly individuals using physiological signals.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FF5B2-48B3-499F-288C-F9ABDC01B513}"/>
              </a:ext>
            </a:extLst>
          </p:cNvPr>
          <p:cNvSpPr txBox="1"/>
          <p:nvPr/>
        </p:nvSpPr>
        <p:spPr>
          <a:xfrm>
            <a:off x="1600200" y="7250263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74EE3-1098-5EBA-F3FC-29B69AE2D741}"/>
              </a:ext>
            </a:extLst>
          </p:cNvPr>
          <p:cNvSpPr txBox="1"/>
          <p:nvPr/>
        </p:nvSpPr>
        <p:spPr>
          <a:xfrm>
            <a:off x="11811000" y="8083757"/>
            <a:ext cx="6934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optimized model on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stress and pain events in real time</a:t>
            </a:r>
          </a:p>
        </p:txBody>
      </p:sp>
    </p:spTree>
    <p:extLst>
      <p:ext uri="{BB962C8B-B14F-4D97-AF65-F5344CB8AC3E}">
        <p14:creationId xmlns:p14="http://schemas.microsoft.com/office/powerpoint/2010/main" val="1330663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1A64A-CB18-99F9-AE1D-880BA43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F96B01-D608-32C7-A345-85BB011F2C2D}"/>
              </a:ext>
            </a:extLst>
          </p:cNvPr>
          <p:cNvSpPr txBox="1"/>
          <p:nvPr/>
        </p:nvSpPr>
        <p:spPr>
          <a:xfrm>
            <a:off x="1527628" y="57150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4FC27-10E0-B514-A788-B6D1B186A6C3}"/>
              </a:ext>
            </a:extLst>
          </p:cNvPr>
          <p:cNvSpPr txBox="1"/>
          <p:nvPr/>
        </p:nvSpPr>
        <p:spPr>
          <a:xfrm>
            <a:off x="1527628" y="1333500"/>
            <a:ext cx="1119777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Affective Computing in elderly healthcare wearables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detection of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and pain using physiological signals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machine learning processing for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emotional state detection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BBB3BF-F650-537A-444A-DEDEC0730227}"/>
              </a:ext>
            </a:extLst>
          </p:cNvPr>
          <p:cNvSpPr txBox="1"/>
          <p:nvPr/>
        </p:nvSpPr>
        <p:spPr>
          <a:xfrm>
            <a:off x="1563914" y="3541109"/>
            <a:ext cx="57113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60E73DCB-E646-28FE-22F1-15B412DA6F98}"/>
              </a:ext>
            </a:extLst>
          </p:cNvPr>
          <p:cNvSpPr/>
          <p:nvPr/>
        </p:nvSpPr>
        <p:spPr>
          <a:xfrm>
            <a:off x="1625600" y="4352529"/>
            <a:ext cx="6934200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Skin Response (GSR) sensor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conductance electrodes</a:t>
            </a:r>
          </a:p>
          <a:p>
            <a:pPr algn="ctr"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F9C8C191-7EE3-4BE3-9832-070989FE7AC6}"/>
              </a:ext>
            </a:extLst>
          </p:cNvPr>
          <p:cNvSpPr/>
          <p:nvPr/>
        </p:nvSpPr>
        <p:spPr>
          <a:xfrm>
            <a:off x="8969828" y="4332572"/>
            <a:ext cx="8937172" cy="3278393"/>
          </a:xfrm>
          <a:custGeom>
            <a:avLst/>
            <a:gdLst/>
            <a:ahLst/>
            <a:cxnLst/>
            <a:rect l="l" t="t" r="r" b="b"/>
            <a:pathLst>
              <a:path w="1800071" h="815144">
                <a:moveTo>
                  <a:pt x="28319" y="0"/>
                </a:moveTo>
                <a:lnTo>
                  <a:pt x="1771752" y="0"/>
                </a:lnTo>
                <a:cubicBezTo>
                  <a:pt x="1787392" y="0"/>
                  <a:pt x="1800071" y="12679"/>
                  <a:pt x="1800071" y="28319"/>
                </a:cubicBezTo>
                <a:lnTo>
                  <a:pt x="1800071" y="786826"/>
                </a:lnTo>
                <a:cubicBezTo>
                  <a:pt x="1800071" y="794336"/>
                  <a:pt x="1797087" y="801539"/>
                  <a:pt x="1791776" y="806850"/>
                </a:cubicBezTo>
                <a:cubicBezTo>
                  <a:pt x="1786466" y="812161"/>
                  <a:pt x="1779263" y="815144"/>
                  <a:pt x="1771752" y="815144"/>
                </a:cubicBezTo>
                <a:lnTo>
                  <a:pt x="28319" y="815144"/>
                </a:lnTo>
                <a:cubicBezTo>
                  <a:pt x="20808" y="815144"/>
                  <a:pt x="13605" y="812161"/>
                  <a:pt x="8294" y="806850"/>
                </a:cubicBezTo>
                <a:cubicBezTo>
                  <a:pt x="2984" y="801539"/>
                  <a:pt x="0" y="794336"/>
                  <a:pt x="0" y="786826"/>
                </a:cubicBezTo>
                <a:lnTo>
                  <a:pt x="0" y="28319"/>
                </a:lnTo>
                <a:cubicBezTo>
                  <a:pt x="0" y="20808"/>
                  <a:pt x="2984" y="13605"/>
                  <a:pt x="8294" y="8294"/>
                </a:cubicBezTo>
                <a:cubicBezTo>
                  <a:pt x="13605" y="2984"/>
                  <a:pt x="20808" y="0"/>
                  <a:pt x="28319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ts val="24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ctr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(Scikit-Learn) for machine learning model training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Arduino framework for embedded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ABC89-980D-18D4-D9F8-C38649F8CA59}"/>
              </a:ext>
            </a:extLst>
          </p:cNvPr>
          <p:cNvSpPr txBox="1"/>
          <p:nvPr/>
        </p:nvSpPr>
        <p:spPr>
          <a:xfrm>
            <a:off x="1527628" y="8125997"/>
            <a:ext cx="9144000" cy="1655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Methodology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Physiological Signal Acquisition</a:t>
            </a:r>
            <a:endParaRPr lang="en-US" sz="2500" b="1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monitoring of skin conductance using GSR sensor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72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20BA9-F2CE-AE18-81AA-DCAA0C1B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02EDD5-62E5-BDF6-0249-DBEB34844642}"/>
              </a:ext>
            </a:extLst>
          </p:cNvPr>
          <p:cNvSpPr txBox="1"/>
          <p:nvPr/>
        </p:nvSpPr>
        <p:spPr>
          <a:xfrm>
            <a:off x="1524000" y="723900"/>
            <a:ext cx="96012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Signal Processing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tonic and phasic Electrodermal Activity (EDA) components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Skin Conductance Response (SCR) peaks</a:t>
            </a:r>
          </a:p>
          <a:p>
            <a:pPr lvl="1"/>
            <a:endParaRPr lang="en-US" dirty="0"/>
          </a:p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Machine Learning Classification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trained using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WESAD dataset</a:t>
            </a:r>
          </a:p>
          <a:p>
            <a:pPr lvl="1"/>
            <a:endParaRPr lang="en-US" dirty="0"/>
          </a:p>
          <a:p>
            <a:pPr lvl="0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Edge Deployment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optimized and deployed on ESP32 for real-time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0165A-E392-AABC-B98E-E31167AD782C}"/>
              </a:ext>
            </a:extLst>
          </p:cNvPr>
          <p:cNvSpPr txBox="1"/>
          <p:nvPr/>
        </p:nvSpPr>
        <p:spPr>
          <a:xfrm>
            <a:off x="1524000" y="4932443"/>
            <a:ext cx="10439400" cy="18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Validation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WESAD – Wearable Stress and Affect Detection Dataset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Accuracy, Precision, and F1-score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B5C85-2E75-59EC-ECEC-3BEC9FFEC7D5}"/>
              </a:ext>
            </a:extLst>
          </p:cNvPr>
          <p:cNvSpPr txBox="1"/>
          <p:nvPr/>
        </p:nvSpPr>
        <p:spPr>
          <a:xfrm>
            <a:off x="1527629" y="7096837"/>
            <a:ext cx="14478000" cy="11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System Workflow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 Sensor → Signal Processing → Feature Extraction → Random Forest Model → Stress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460098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AC759-FBCD-DA89-FBD8-0ED285CA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27F2F11-E5C6-73C2-3E74-BB806214E22C}"/>
              </a:ext>
            </a:extLst>
          </p:cNvPr>
          <p:cNvSpPr txBox="1"/>
          <p:nvPr/>
        </p:nvSpPr>
        <p:spPr>
          <a:xfrm>
            <a:off x="1371600" y="342900"/>
            <a:ext cx="9144000" cy="3793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Detection Capabilities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physiological indicators of: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Silent hypoxia</a:t>
            </a:r>
            <a:r>
              <a:rPr lang="en-US" sz="2300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 (low oxygen levels)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Early-stage infection or sepsis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Respiratory deterioration</a:t>
            </a:r>
            <a:endParaRPr lang="en-US" sz="2300" kern="100" dirty="0"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C17EB-2811-2E4F-C6C0-D1D76784B795}"/>
              </a:ext>
            </a:extLst>
          </p:cNvPr>
          <p:cNvSpPr txBox="1"/>
          <p:nvPr/>
        </p:nvSpPr>
        <p:spPr>
          <a:xfrm>
            <a:off x="1371600" y="3467100"/>
            <a:ext cx="9144000" cy="23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Alert Mechanism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distress state is detected: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Wearable device triggers </a:t>
            </a:r>
            <a:r>
              <a:rPr lang="en-US" sz="23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vibration alert</a:t>
            </a:r>
            <a:endParaRPr lang="en-US" sz="2300" b="1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Notification sent to </a:t>
            </a:r>
            <a:r>
              <a:rPr lang="en-US" sz="23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mobile caregiver application</a:t>
            </a:r>
            <a:endParaRPr lang="en-US" sz="2300" kern="100" dirty="0"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FAF19-2D7F-904E-68E0-AA19F2C4FFAA}"/>
              </a:ext>
            </a:extLst>
          </p:cNvPr>
          <p:cNvSpPr txBox="1"/>
          <p:nvPr/>
        </p:nvSpPr>
        <p:spPr>
          <a:xfrm>
            <a:off x="1371600" y="5980518"/>
            <a:ext cx="12649200" cy="379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Integration with Full System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state monitoring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the multi-sensor wearable system.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Examples of integration:</a:t>
            </a:r>
            <a:endParaRPr lang="en-US" sz="2400" kern="100" dirty="0">
              <a:latin typeface="Aptos" panose="020B0004020202020204" pitchFamily="34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signal + high heart rate → emotional distress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signal + low motion → pain condition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signal + abnormal vital signs → medical alert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6652D-6096-2CFA-70E7-58F467D7DAB3}"/>
              </a:ext>
            </a:extLst>
          </p:cNvPr>
          <p:cNvSpPr txBox="1"/>
          <p:nvPr/>
        </p:nvSpPr>
        <p:spPr>
          <a:xfrm>
            <a:off x="9448800" y="514162"/>
            <a:ext cx="9144000" cy="139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This module enhances the wearable system by providing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psychological and neurological monitoring</a:t>
            </a: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, enabling a </a:t>
            </a:r>
            <a:r>
              <a:rPr lang="en-US" sz="2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more holistic approach to elderly healthcare monitoring</a:t>
            </a:r>
            <a:r>
              <a:rPr lang="en-US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.</a:t>
            </a:r>
            <a:endParaRPr lang="en-US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Iskoola Pot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362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F4BE-A9E1-6C3A-0A5E-E17D86E2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2719D05-1AF3-9F23-3401-38581DB14B65}"/>
              </a:ext>
            </a:extLst>
          </p:cNvPr>
          <p:cNvSpPr/>
          <p:nvPr/>
        </p:nvSpPr>
        <p:spPr>
          <a:xfrm rot="2815269">
            <a:off x="-2133316" y="7137429"/>
            <a:ext cx="5645112" cy="6811599"/>
          </a:xfrm>
          <a:custGeom>
            <a:avLst/>
            <a:gdLst/>
            <a:ahLst/>
            <a:cxnLst/>
            <a:rect l="l" t="t" r="r" b="b"/>
            <a:pathLst>
              <a:path w="5645112" h="6811599">
                <a:moveTo>
                  <a:pt x="0" y="0"/>
                </a:moveTo>
                <a:lnTo>
                  <a:pt x="5645113" y="0"/>
                </a:lnTo>
                <a:lnTo>
                  <a:pt x="5645113" y="6811599"/>
                </a:lnTo>
                <a:lnTo>
                  <a:pt x="0" y="681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19C7B7C-134D-BF81-ADBA-99EAD9821BAA}"/>
              </a:ext>
            </a:extLst>
          </p:cNvPr>
          <p:cNvGrpSpPr/>
          <p:nvPr/>
        </p:nvGrpSpPr>
        <p:grpSpPr>
          <a:xfrm>
            <a:off x="1671765" y="3965426"/>
            <a:ext cx="6735248" cy="3845147"/>
            <a:chOff x="0" y="0"/>
            <a:chExt cx="1800071" cy="81514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2C4C741-C430-5B4C-4DA4-FD6609FE2541}"/>
                </a:ext>
              </a:extLst>
            </p:cNvPr>
            <p:cNvSpPr/>
            <p:nvPr/>
          </p:nvSpPr>
          <p:spPr>
            <a:xfrm>
              <a:off x="0" y="0"/>
              <a:ext cx="1800071" cy="815144"/>
            </a:xfrm>
            <a:custGeom>
              <a:avLst/>
              <a:gdLst/>
              <a:ahLst/>
              <a:cxnLst/>
              <a:rect l="l" t="t" r="r" b="b"/>
              <a:pathLst>
                <a:path w="1800071" h="815144">
                  <a:moveTo>
                    <a:pt x="28319" y="0"/>
                  </a:moveTo>
                  <a:lnTo>
                    <a:pt x="1771752" y="0"/>
                  </a:lnTo>
                  <a:cubicBezTo>
                    <a:pt x="1787392" y="0"/>
                    <a:pt x="1800071" y="12679"/>
                    <a:pt x="1800071" y="28319"/>
                  </a:cubicBezTo>
                  <a:lnTo>
                    <a:pt x="1800071" y="786826"/>
                  </a:lnTo>
                  <a:cubicBezTo>
                    <a:pt x="1800071" y="794336"/>
                    <a:pt x="1797087" y="801539"/>
                    <a:pt x="1791776" y="806850"/>
                  </a:cubicBezTo>
                  <a:cubicBezTo>
                    <a:pt x="1786466" y="812161"/>
                    <a:pt x="1779263" y="815144"/>
                    <a:pt x="1771752" y="815144"/>
                  </a:cubicBezTo>
                  <a:lnTo>
                    <a:pt x="28319" y="815144"/>
                  </a:lnTo>
                  <a:cubicBezTo>
                    <a:pt x="20808" y="815144"/>
                    <a:pt x="13605" y="812161"/>
                    <a:pt x="8294" y="806850"/>
                  </a:cubicBezTo>
                  <a:cubicBezTo>
                    <a:pt x="2984" y="801539"/>
                    <a:pt x="0" y="794336"/>
                    <a:pt x="0" y="786826"/>
                  </a:cubicBezTo>
                  <a:lnTo>
                    <a:pt x="0" y="28319"/>
                  </a:lnTo>
                  <a:cubicBezTo>
                    <a:pt x="0" y="20808"/>
                    <a:pt x="2984" y="13605"/>
                    <a:pt x="8294" y="8294"/>
                  </a:cubicBezTo>
                  <a:cubicBezTo>
                    <a:pt x="13605" y="2984"/>
                    <a:pt x="20808" y="0"/>
                    <a:pt x="28319" y="0"/>
                  </a:cubicBezTo>
                  <a:close/>
                </a:path>
              </a:pathLst>
            </a:custGeom>
            <a:solidFill>
              <a:srgbClr val="E3D7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F56C089-0E68-B5D4-5ACD-D98CB7A0335B}"/>
                </a:ext>
              </a:extLst>
            </p:cNvPr>
            <p:cNvSpPr txBox="1"/>
            <p:nvPr/>
          </p:nvSpPr>
          <p:spPr>
            <a:xfrm>
              <a:off x="0" y="-76200"/>
              <a:ext cx="1800071" cy="89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85E9B1B-1B76-9D88-B15C-AD1EAFCD58E8}"/>
              </a:ext>
            </a:extLst>
          </p:cNvPr>
          <p:cNvSpPr/>
          <p:nvPr/>
        </p:nvSpPr>
        <p:spPr>
          <a:xfrm>
            <a:off x="649431" y="7495602"/>
            <a:ext cx="1327891" cy="2418442"/>
          </a:xfrm>
          <a:custGeom>
            <a:avLst/>
            <a:gdLst/>
            <a:ahLst/>
            <a:cxnLst/>
            <a:rect l="l" t="t" r="r" b="b"/>
            <a:pathLst>
              <a:path w="1474836" h="2906080">
                <a:moveTo>
                  <a:pt x="0" y="0"/>
                </a:moveTo>
                <a:lnTo>
                  <a:pt x="1474836" y="0"/>
                </a:lnTo>
                <a:lnTo>
                  <a:pt x="1474836" y="2906080"/>
                </a:lnTo>
                <a:lnTo>
                  <a:pt x="0" y="290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0CA3EFB-2FB8-C49A-7DD4-32B17042F5B0}"/>
              </a:ext>
            </a:extLst>
          </p:cNvPr>
          <p:cNvSpPr txBox="1"/>
          <p:nvPr/>
        </p:nvSpPr>
        <p:spPr>
          <a:xfrm>
            <a:off x="1" y="461022"/>
            <a:ext cx="182880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B62EE75-65D1-C309-B8A8-12112F61A1E5}"/>
              </a:ext>
            </a:extLst>
          </p:cNvPr>
          <p:cNvSpPr txBox="1"/>
          <p:nvPr/>
        </p:nvSpPr>
        <p:spPr>
          <a:xfrm>
            <a:off x="2876114" y="4889838"/>
            <a:ext cx="4839791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individuals living alone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living facilities 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healthcare services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4F6750-CBDB-14BC-33FA-C8A9CA62ABBB}"/>
              </a:ext>
            </a:extLst>
          </p:cNvPr>
          <p:cNvSpPr txBox="1"/>
          <p:nvPr/>
        </p:nvSpPr>
        <p:spPr>
          <a:xfrm>
            <a:off x="1689908" y="1952051"/>
            <a:ext cx="841164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 </a:t>
            </a:r>
            <a:endParaRPr lang="en-US" sz="32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598B7-9C8E-91A6-D213-906C14C55ECF}"/>
              </a:ext>
            </a:extLst>
          </p:cNvPr>
          <p:cNvSpPr txBox="1"/>
          <p:nvPr/>
        </p:nvSpPr>
        <p:spPr>
          <a:xfrm>
            <a:off x="1671765" y="2796627"/>
            <a:ext cx="1365169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elderly healthcare monitoring devices. 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56A8D-EA6E-7B15-A519-9D6BE0DC36C6}"/>
              </a:ext>
            </a:extLst>
          </p:cNvPr>
          <p:cNvSpPr txBox="1"/>
          <p:nvPr/>
        </p:nvSpPr>
        <p:spPr>
          <a:xfrm>
            <a:off x="2480988" y="4131583"/>
            <a:ext cx="11282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 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27BB7D2A-9324-8DA3-1AB7-F66F9B9A3D90}"/>
              </a:ext>
            </a:extLst>
          </p:cNvPr>
          <p:cNvGrpSpPr/>
          <p:nvPr/>
        </p:nvGrpSpPr>
        <p:grpSpPr>
          <a:xfrm>
            <a:off x="9463455" y="3965426"/>
            <a:ext cx="6735248" cy="3845147"/>
            <a:chOff x="0" y="0"/>
            <a:chExt cx="1800071" cy="815144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61467ED-35BE-0C5C-4B73-6333C5756CE6}"/>
                </a:ext>
              </a:extLst>
            </p:cNvPr>
            <p:cNvSpPr/>
            <p:nvPr/>
          </p:nvSpPr>
          <p:spPr>
            <a:xfrm>
              <a:off x="0" y="0"/>
              <a:ext cx="1800071" cy="815144"/>
            </a:xfrm>
            <a:custGeom>
              <a:avLst/>
              <a:gdLst/>
              <a:ahLst/>
              <a:cxnLst/>
              <a:rect l="l" t="t" r="r" b="b"/>
              <a:pathLst>
                <a:path w="1800071" h="815144">
                  <a:moveTo>
                    <a:pt x="28319" y="0"/>
                  </a:moveTo>
                  <a:lnTo>
                    <a:pt x="1771752" y="0"/>
                  </a:lnTo>
                  <a:cubicBezTo>
                    <a:pt x="1787392" y="0"/>
                    <a:pt x="1800071" y="12679"/>
                    <a:pt x="1800071" y="28319"/>
                  </a:cubicBezTo>
                  <a:lnTo>
                    <a:pt x="1800071" y="786826"/>
                  </a:lnTo>
                  <a:cubicBezTo>
                    <a:pt x="1800071" y="794336"/>
                    <a:pt x="1797087" y="801539"/>
                    <a:pt x="1791776" y="806850"/>
                  </a:cubicBezTo>
                  <a:cubicBezTo>
                    <a:pt x="1786466" y="812161"/>
                    <a:pt x="1779263" y="815144"/>
                    <a:pt x="1771752" y="815144"/>
                  </a:cubicBezTo>
                  <a:lnTo>
                    <a:pt x="28319" y="815144"/>
                  </a:lnTo>
                  <a:cubicBezTo>
                    <a:pt x="20808" y="815144"/>
                    <a:pt x="13605" y="812161"/>
                    <a:pt x="8294" y="806850"/>
                  </a:cubicBezTo>
                  <a:cubicBezTo>
                    <a:pt x="2984" y="801539"/>
                    <a:pt x="0" y="794336"/>
                    <a:pt x="0" y="786826"/>
                  </a:cubicBezTo>
                  <a:lnTo>
                    <a:pt x="0" y="28319"/>
                  </a:lnTo>
                  <a:cubicBezTo>
                    <a:pt x="0" y="20808"/>
                    <a:pt x="2984" y="13605"/>
                    <a:pt x="8294" y="8294"/>
                  </a:cubicBezTo>
                  <a:cubicBezTo>
                    <a:pt x="13605" y="2984"/>
                    <a:pt x="20808" y="0"/>
                    <a:pt x="28319" y="0"/>
                  </a:cubicBezTo>
                  <a:close/>
                </a:path>
              </a:pathLst>
            </a:custGeom>
            <a:solidFill>
              <a:srgbClr val="E3D7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3365CB8A-A845-7279-6E43-1DA57E15594A}"/>
                </a:ext>
              </a:extLst>
            </p:cNvPr>
            <p:cNvSpPr txBox="1"/>
            <p:nvPr/>
          </p:nvSpPr>
          <p:spPr>
            <a:xfrm>
              <a:off x="0" y="-76200"/>
              <a:ext cx="1800071" cy="89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3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B2A351C-97F9-4A5D-4DC3-E0ADD8A50744}"/>
              </a:ext>
            </a:extLst>
          </p:cNvPr>
          <p:cNvSpPr txBox="1"/>
          <p:nvPr/>
        </p:nvSpPr>
        <p:spPr>
          <a:xfrm>
            <a:off x="10297886" y="4131583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4BE065-D103-73BE-2B8E-D69FA2142214}"/>
              </a:ext>
            </a:extLst>
          </p:cNvPr>
          <p:cNvSpPr txBox="1"/>
          <p:nvPr/>
        </p:nvSpPr>
        <p:spPr>
          <a:xfrm>
            <a:off x="10297886" y="4775236"/>
            <a:ext cx="57150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health monitoring</a:t>
            </a:r>
          </a:p>
          <a:p>
            <a:pPr algn="just">
              <a:lnSpc>
                <a:spcPts val="28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edge AI </a:t>
            </a: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health detection </a:t>
            </a:r>
            <a:endParaRPr lang="en-US" sz="25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</p:spTree>
    <p:extLst>
      <p:ext uri="{BB962C8B-B14F-4D97-AF65-F5344CB8AC3E}">
        <p14:creationId xmlns:p14="http://schemas.microsoft.com/office/powerpoint/2010/main" val="3229331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7753-A147-F6F6-00FC-C4EF23A3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091123A-0B81-8227-DFEA-6F21324C3FBF}"/>
              </a:ext>
            </a:extLst>
          </p:cNvPr>
          <p:cNvSpPr/>
          <p:nvPr/>
        </p:nvSpPr>
        <p:spPr>
          <a:xfrm rot="2815269">
            <a:off x="-2133316" y="7137429"/>
            <a:ext cx="5645112" cy="6811599"/>
          </a:xfrm>
          <a:custGeom>
            <a:avLst/>
            <a:gdLst/>
            <a:ahLst/>
            <a:cxnLst/>
            <a:rect l="l" t="t" r="r" b="b"/>
            <a:pathLst>
              <a:path w="5645112" h="6811599">
                <a:moveTo>
                  <a:pt x="0" y="0"/>
                </a:moveTo>
                <a:lnTo>
                  <a:pt x="5645113" y="0"/>
                </a:lnTo>
                <a:lnTo>
                  <a:pt x="5645113" y="6811599"/>
                </a:lnTo>
                <a:lnTo>
                  <a:pt x="0" y="681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FB95D52-06D3-AC2B-F8BD-351A24337FC6}"/>
              </a:ext>
            </a:extLst>
          </p:cNvPr>
          <p:cNvSpPr txBox="1"/>
          <p:nvPr/>
        </p:nvSpPr>
        <p:spPr>
          <a:xfrm>
            <a:off x="1" y="461022"/>
            <a:ext cx="182880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F5BED-80ED-992F-B525-87F5E7C1BBB0}"/>
              </a:ext>
            </a:extLst>
          </p:cNvPr>
          <p:cNvSpPr txBox="1"/>
          <p:nvPr/>
        </p:nvSpPr>
        <p:spPr>
          <a:xfrm>
            <a:off x="2667000" y="1714500"/>
            <a:ext cx="11009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Structure</a:t>
            </a:r>
            <a:endParaRPr lang="en-US" sz="3200" dirty="0">
              <a:solidFill>
                <a:srgbClr val="231F20"/>
              </a:solidFill>
              <a:latin typeface="Times New Roman" panose="02020603050405020304" pitchFamily="18" charset="0"/>
              <a:ea typeface="TT Firs Neue"/>
              <a:cs typeface="Times New Roman" panose="02020603050405020304" pitchFamily="18" charset="0"/>
              <a:sym typeface="TT Firs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4EEC7-F909-9A48-BBE5-A8DEB0D72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3" y="6981588"/>
            <a:ext cx="17723594" cy="22005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74CF10-2BD5-15E6-25E6-C5C786288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707908"/>
              </p:ext>
            </p:extLst>
          </p:nvPr>
        </p:nvGraphicFramePr>
        <p:xfrm>
          <a:off x="6056084" y="2399293"/>
          <a:ext cx="7620000" cy="435506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52490760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998510029"/>
                    </a:ext>
                  </a:extLst>
                </a:gridCol>
              </a:tblGrid>
              <a:tr h="261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Task</a:t>
                      </a:r>
                      <a:endParaRPr lang="en-US" sz="1500" dirty="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Subtasks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420489758"/>
                  </a:ext>
                </a:extLst>
              </a:tr>
              <a:tr h="322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Project Management and Planning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Define scope, Risk assessment, Timeline setup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3962120158"/>
                  </a:ext>
                </a:extLst>
              </a:tr>
              <a:tr h="45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System Design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Design architecture, Define specifications, Data flow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970880411"/>
                  </a:ext>
                </a:extLst>
              </a:tr>
              <a:tr h="45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Hardware Integration</a:t>
                      </a:r>
                      <a:endParaRPr lang="en-US" sz="1500" dirty="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Select sensors, Interface hardware, Develop prototype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768482972"/>
                  </a:ext>
                </a:extLst>
              </a:tr>
              <a:tr h="45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Data Processing and Algorithms</a:t>
                      </a:r>
                      <a:endParaRPr lang="en-US" sz="1500" dirty="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Preprocess data, Implement ML models, Anomaly detection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3438728326"/>
                  </a:ext>
                </a:extLst>
              </a:tr>
              <a:tr h="45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Software Development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Develop embedded software, Mobile app, Alert system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4149548910"/>
                  </a:ext>
                </a:extLst>
              </a:tr>
              <a:tr h="45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Testing and Validation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Prototype testing, Usability testing, System integration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3262798869"/>
                  </a:ext>
                </a:extLst>
              </a:tr>
              <a:tr h="322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Deployment and Final Integration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Finalize design, Deploy to users, Collect feedback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349947720"/>
                  </a:ext>
                </a:extLst>
              </a:tr>
              <a:tr h="322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Documentation and Reporting</a:t>
                      </a:r>
                      <a:endParaRPr lang="en-US" sz="1500"/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Write reports, User manuals, Submit publications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602774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730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ECE2-8702-7E2A-2981-1FF0C0D5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282E190-0333-FE8E-6A96-8C84130EB38C}"/>
              </a:ext>
            </a:extLst>
          </p:cNvPr>
          <p:cNvSpPr/>
          <p:nvPr/>
        </p:nvSpPr>
        <p:spPr>
          <a:xfrm rot="2815269">
            <a:off x="-2133316" y="7137429"/>
            <a:ext cx="5645112" cy="6811599"/>
          </a:xfrm>
          <a:custGeom>
            <a:avLst/>
            <a:gdLst/>
            <a:ahLst/>
            <a:cxnLst/>
            <a:rect l="l" t="t" r="r" b="b"/>
            <a:pathLst>
              <a:path w="5645112" h="6811599">
                <a:moveTo>
                  <a:pt x="0" y="0"/>
                </a:moveTo>
                <a:lnTo>
                  <a:pt x="5645113" y="0"/>
                </a:lnTo>
                <a:lnTo>
                  <a:pt x="5645113" y="6811599"/>
                </a:lnTo>
                <a:lnTo>
                  <a:pt x="0" y="681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E3B69-A78D-6753-860B-E6C3AF9241CE}"/>
              </a:ext>
            </a:extLst>
          </p:cNvPr>
          <p:cNvSpPr txBox="1"/>
          <p:nvPr/>
        </p:nvSpPr>
        <p:spPr>
          <a:xfrm>
            <a:off x="2590800" y="800100"/>
            <a:ext cx="11009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D1080F-A9BF-A3E0-41FD-3681FC2A6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75"/>
          <a:stretch>
            <a:fillRect/>
          </a:stretch>
        </p:blipFill>
        <p:spPr>
          <a:xfrm>
            <a:off x="1143000" y="1790700"/>
            <a:ext cx="1688151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91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57AC1-BC30-650A-395A-5E1CA91B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0D7D0EE-BCAE-64E0-E523-97D5191B31EA}"/>
              </a:ext>
            </a:extLst>
          </p:cNvPr>
          <p:cNvSpPr/>
          <p:nvPr/>
        </p:nvSpPr>
        <p:spPr>
          <a:xfrm rot="2815269">
            <a:off x="-2133316" y="7137429"/>
            <a:ext cx="5645112" cy="6811599"/>
          </a:xfrm>
          <a:custGeom>
            <a:avLst/>
            <a:gdLst/>
            <a:ahLst/>
            <a:cxnLst/>
            <a:rect l="l" t="t" r="r" b="b"/>
            <a:pathLst>
              <a:path w="5645112" h="6811599">
                <a:moveTo>
                  <a:pt x="0" y="0"/>
                </a:moveTo>
                <a:lnTo>
                  <a:pt x="5645113" y="0"/>
                </a:lnTo>
                <a:lnTo>
                  <a:pt x="5645113" y="6811599"/>
                </a:lnTo>
                <a:lnTo>
                  <a:pt x="0" y="6811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718FF65-0980-794E-9BA1-829A94687AFC}"/>
              </a:ext>
            </a:extLst>
          </p:cNvPr>
          <p:cNvSpPr txBox="1"/>
          <p:nvPr/>
        </p:nvSpPr>
        <p:spPr>
          <a:xfrm>
            <a:off x="1" y="461022"/>
            <a:ext cx="182880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 </a:t>
            </a:r>
            <a:endParaRPr lang="en-US" sz="6000" b="1" spc="-374" dirty="0">
              <a:solidFill>
                <a:srgbClr val="231F20"/>
              </a:solidFill>
              <a:latin typeface="Times New Roman" panose="02020603050405020304" pitchFamily="18" charset="0"/>
              <a:ea typeface="Heading Now 71-78"/>
              <a:cs typeface="Times New Roman" panose="02020603050405020304" pitchFamily="18" charset="0"/>
              <a:sym typeface="Heading Now 71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95562-309A-08C5-BCF9-5EB295DC42E0}"/>
              </a:ext>
            </a:extLst>
          </p:cNvPr>
          <p:cNvSpPr txBox="1"/>
          <p:nvPr/>
        </p:nvSpPr>
        <p:spPr>
          <a:xfrm>
            <a:off x="1143000" y="1790700"/>
            <a:ext cx="163830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M., Zhang, Y., Li, Y. and Yang, X., 2022. A Systematic Review of Wearable Sensor‑Based Technologies for Fall Risk Assessment in Older Adults. Sensors, 22(18), p.6752.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https://doi.org/10.3390/s22186752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Kristoffersson, A. and Lindén, M., 2022. A Systematic Review of Wearable Sensors for Monitoring Physical Activity. Sensors (Basel), 22(2), p.573.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https://doi.org/10.3390/s22020573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Hizem, M., Bouaziz, I., Mili, L. and Guesmi, S., 2025. Reliable ECG Anomaly Detection on Edge Devices for Internet of Medical Things Applications. Sensors, 25(8), p.2496.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https://doi.org/10.3390/s25082496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Gu, B., Lee, S., Yoon, Y., Choi, H., and Kim, S., 2025. Advancements in Wearable Sensor Technologies for Health Monitoring in Terms of Clinical Applications, Rehabilitation, and Disease Risk Assessment: Systematic Review. JMIR mHealth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uHealth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14, p.e76084.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https://doi.org/10.2196/76084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Bet, P., Castro, P.C. and Ponti, M.A., 2019. Fall Detection and Fall Risk Assessment in Older Persons Using Wearable Sensors: A Systematic Review. International Journal of Medical Informatics, 130, p.103946.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https://doi.org/10.1016/j.ijmedinf.2019.08.006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Kristoffersson, A. and Lindén, M., 2020. A Systematic Review on the Use of Wearable Body Sensors for Health Monitoring: A Qualitative Synthesis. Sensors (Basel), 20(5), p.1502. Available at: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https://doi.org/10.3390/s20051502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31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a7ac7f-b5f1-48ab-b6e7-5b6b32be6e8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1F660991C0984E8995739A2C4C2B14" ma:contentTypeVersion="6" ma:contentTypeDescription="Create a new document." ma:contentTypeScope="" ma:versionID="203189a30718b4743f0e1e3ce81cf9d5">
  <xsd:schema xmlns:xsd="http://www.w3.org/2001/XMLSchema" xmlns:xs="http://www.w3.org/2001/XMLSchema" xmlns:p="http://schemas.microsoft.com/office/2006/metadata/properties" xmlns:ns3="52a7ac7f-b5f1-48ab-b6e7-5b6b32be6e89" targetNamespace="http://schemas.microsoft.com/office/2006/metadata/properties" ma:root="true" ma:fieldsID="0a4e994c313da96d1a92fcac6586cdcb" ns3:_="">
    <xsd:import namespace="52a7ac7f-b5f1-48ab-b6e7-5b6b32be6e8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a7ac7f-b5f1-48ab-b6e7-5b6b32be6e8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803209-F7C9-4CAA-998A-8CB361C76454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52a7ac7f-b5f1-48ab-b6e7-5b6b32be6e8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B95B8EB-12CC-4182-A74A-ACF2CED868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A5C137-31AF-4806-BDEB-F3DB50BFBE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a7ac7f-b5f1-48ab-b6e7-5b6b32be6e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2534</Words>
  <Application>Microsoft Office PowerPoint</Application>
  <PresentationFormat>Custom</PresentationFormat>
  <Paragraphs>532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Courier New</vt:lpstr>
      <vt:lpstr>Aptos</vt:lpstr>
      <vt:lpstr>Times New Roman</vt:lpstr>
      <vt:lpstr>Calibri</vt:lpstr>
      <vt:lpstr>Arial</vt:lpstr>
      <vt:lpstr>TT Firs 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Modern Smartband Fitness Tracker Product Presentation</dc:title>
  <dc:creator>LapMart.lk</dc:creator>
  <cp:lastModifiedBy>Wijesundara W.M.T.D. bm20521448</cp:lastModifiedBy>
  <cp:revision>15</cp:revision>
  <dcterms:created xsi:type="dcterms:W3CDTF">2006-08-16T00:00:00Z</dcterms:created>
  <dcterms:modified xsi:type="dcterms:W3CDTF">2026-03-16T12:40:07Z</dcterms:modified>
  <dc:identifier>DAHDv_HZxWQ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0x010100AE1F660991C0984E8995739A2C4C2B14</vt:lpwstr>
  </property>
</Properties>
</file>